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44"/>
  </p:notesMasterIdLst>
  <p:sldIdLst>
    <p:sldId id="256" r:id="rId2"/>
    <p:sldId id="295" r:id="rId3"/>
    <p:sldId id="285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5" r:id="rId15"/>
    <p:sldId id="267" r:id="rId16"/>
    <p:sldId id="268" r:id="rId17"/>
    <p:sldId id="269" r:id="rId18"/>
    <p:sldId id="270" r:id="rId19"/>
    <p:sldId id="281" r:id="rId20"/>
    <p:sldId id="282" r:id="rId21"/>
    <p:sldId id="283" r:id="rId22"/>
    <p:sldId id="284" r:id="rId23"/>
    <p:sldId id="271" r:id="rId24"/>
    <p:sldId id="272" r:id="rId25"/>
    <p:sldId id="273" r:id="rId26"/>
    <p:sldId id="274" r:id="rId27"/>
    <p:sldId id="275" r:id="rId28"/>
    <p:sldId id="276" r:id="rId29"/>
    <p:sldId id="286" r:id="rId30"/>
    <p:sldId id="287" r:id="rId31"/>
    <p:sldId id="288" r:id="rId32"/>
    <p:sldId id="278" r:id="rId33"/>
    <p:sldId id="279" r:id="rId34"/>
    <p:sldId id="280" r:id="rId35"/>
    <p:sldId id="299" r:id="rId36"/>
    <p:sldId id="296" r:id="rId37"/>
    <p:sldId id="297" r:id="rId38"/>
    <p:sldId id="298" r:id="rId39"/>
    <p:sldId id="290" r:id="rId40"/>
    <p:sldId id="294" r:id="rId41"/>
    <p:sldId id="293" r:id="rId42"/>
    <p:sldId id="292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4EEA54-6324-4A09-B3FB-F92E4D0848D3}">
          <p14:sldIdLst>
            <p14:sldId id="256"/>
            <p14:sldId id="295"/>
            <p14:sldId id="285"/>
            <p14:sldId id="277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emini" id="{E6EEA790-E718-4AFB-A3A4-106361C29AF3}">
          <p14:sldIdLst>
            <p14:sldId id="266"/>
            <p14:sldId id="265"/>
            <p14:sldId id="267"/>
            <p14:sldId id="268"/>
            <p14:sldId id="269"/>
            <p14:sldId id="270"/>
            <p14:sldId id="281"/>
            <p14:sldId id="282"/>
            <p14:sldId id="283"/>
            <p14:sldId id="284"/>
          </p14:sldIdLst>
        </p14:section>
        <p14:section name="Claude" id="{4F6BE9A9-D516-47BB-8FBB-EDDB5119DFC2}">
          <p14:sldIdLst>
            <p14:sldId id="271"/>
            <p14:sldId id="272"/>
            <p14:sldId id="273"/>
            <p14:sldId id="274"/>
            <p14:sldId id="275"/>
            <p14:sldId id="276"/>
            <p14:sldId id="286"/>
            <p14:sldId id="287"/>
            <p14:sldId id="288"/>
          </p14:sldIdLst>
        </p14:section>
        <p14:section name="ChatGPT" id="{45F2D83A-D2E5-4AC9-85EF-C421A41CBE90}">
          <p14:sldIdLst>
            <p14:sldId id="278"/>
            <p14:sldId id="279"/>
            <p14:sldId id="280"/>
          </p14:sldIdLst>
        </p14:section>
        <p14:section name="Multilingual" id="{54AA985A-3713-4357-9AE7-A43B87CFFF9C}">
          <p14:sldIdLst>
            <p14:sldId id="299"/>
            <p14:sldId id="296"/>
            <p14:sldId id="297"/>
            <p14:sldId id="298"/>
          </p14:sldIdLst>
        </p14:section>
        <p14:section name="Backstory" id="{3B61981A-34B7-4122-AB31-B71C3C9B6127}">
          <p14:sldIdLst>
            <p14:sldId id="290"/>
            <p14:sldId id="294"/>
            <p14:sldId id="293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9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117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E7818-7983-9C71-56E0-26E17CF8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B40D0-0605-C5AC-4B89-528BD7D02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3A1-66FE-1F7F-476C-4AF080C9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63770-C410-CB91-C2C7-0472C04CCB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5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asked Claude to corroborate the logs of Gemini usage with the Gemini daily costs.</a:t>
            </a:r>
          </a:p>
        </p:txBody>
      </p:sp>
    </p:spTree>
    <p:extLst>
      <p:ext uri="{BB962C8B-B14F-4D97-AF65-F5344CB8AC3E}">
        <p14:creationId xmlns:p14="http://schemas.microsoft.com/office/powerpoint/2010/main" val="2914773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Total costs has two components, caching and inference (queries).</a:t>
            </a:r>
          </a:p>
        </p:txBody>
      </p:sp>
    </p:spTree>
    <p:extLst>
      <p:ext uri="{BB962C8B-B14F-4D97-AF65-F5344CB8AC3E}">
        <p14:creationId xmlns:p14="http://schemas.microsoft.com/office/powerpoint/2010/main" val="586269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Caching is a large cost.  You need to ask yourself, what caching gets you?  Faster responses?  Better responses?</a:t>
            </a:r>
          </a:p>
        </p:txBody>
      </p:sp>
    </p:spTree>
    <p:extLst>
      <p:ext uri="{BB962C8B-B14F-4D97-AF65-F5344CB8AC3E}">
        <p14:creationId xmlns:p14="http://schemas.microsoft.com/office/powerpoint/2010/main" val="3826055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made this change on Wednesday 4/8/2026 to remove Explicit caching.  Making a cache in the cloud has too many failure modes, and I deemed not enough payoff.</a:t>
            </a:r>
          </a:p>
        </p:txBody>
      </p:sp>
    </p:spTree>
    <p:extLst>
      <p:ext uri="{BB962C8B-B14F-4D97-AF65-F5344CB8AC3E}">
        <p14:creationId xmlns:p14="http://schemas.microsoft.com/office/powerpoint/2010/main" val="35439045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This change happened on 4/8/2026.</a:t>
            </a:r>
          </a:p>
        </p:txBody>
      </p:sp>
    </p:spTree>
    <p:extLst>
      <p:ext uri="{BB962C8B-B14F-4D97-AF65-F5344CB8AC3E}">
        <p14:creationId xmlns:p14="http://schemas.microsoft.com/office/powerpoint/2010/main" val="349699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E71E-DF4F-A1EA-94D0-104EB52E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6669BD-2AF0-3D7B-1526-B66753A230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1712D-B75E-0FF7-7ACE-160BA1FA6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A2D7-7050-1A19-5724-708E3BDB9C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3254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5172-E539-008D-6577-B8FAD5CE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A086B-D0AB-FC2E-C61D-876AC3816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ECFD3-9E6D-3816-BFD2-807AE2681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F497-8C40-A109-FC43-DA1A12355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517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http://psd1.net/pmc1/Can-High-School-Students-and-AI-Design-a-Bus-Stop-Shelter.pdf </a:t>
            </a:r>
          </a:p>
        </p:txBody>
      </p:sp>
    </p:spTree>
    <p:extLst>
      <p:ext uri="{BB962C8B-B14F-4D97-AF65-F5344CB8AC3E}">
        <p14:creationId xmlns:p14="http://schemas.microsoft.com/office/powerpoint/2010/main" val="2334952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82754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4760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3061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7921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1878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8794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58500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0113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859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35252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981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4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50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sd1.net/pmc1/PMC-AI-Technical-Overview.pptx" TargetMode="External"/><Relationship Id="rId7" Type="http://schemas.openxmlformats.org/officeDocument/2006/relationships/hyperlink" Target="mailto:jweisenfeld@psd1.or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://tiny.cc/rayzoomay" TargetMode="External"/><Relationship Id="rId5" Type="http://schemas.openxmlformats.org/officeDocument/2006/relationships/hyperlink" Target="https://psd1.net/pmc1/pmc1.zip" TargetMode="External"/><Relationship Id="rId4" Type="http://schemas.openxmlformats.org/officeDocument/2006/relationships/hyperlink" Target="http://orionhs.us/20260410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sd1.net/pmc1/QuestionInEnglish.png" TargetMode="Externa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psd1.net/pmc1/QuestionInSpanish.png" TargetMode="Externa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psd1.net/pmc1/QuestionInRussian.png" TargetMode="Externa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psd1.net/pmc1/Can-High-School-Students-and-AI-Design-a-Bus-Stop-Shelter.pdf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78143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95300" y="2397443"/>
            <a:ext cx="8046720" cy="20631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3"/>
              </a:rPr>
              <a:t>https://psd1.net/pmc1/PMC-AI-Technical-Overview.pptx</a:t>
            </a:r>
            <a:endParaRPr lang="en-US" sz="2400" dirty="0">
              <a:solidFill>
                <a:srgbClr val="CADCFC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4"/>
              </a:rPr>
              <a:t>http://orionhs.us/20260410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(short link </a:t>
            </a:r>
            <a:r>
              <a:rPr lang="en-US" sz="240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presentation)</a:t>
            </a:r>
            <a:endParaRPr lang="en-US" sz="2400" dirty="0">
              <a:solidFill>
                <a:srgbClr val="CADCFC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 marL="0" indent="0" algn="l">
              <a:buNone/>
            </a:pPr>
            <a:endParaRPr lang="en-US" sz="2400" dirty="0">
              <a:solidFill>
                <a:srgbClr val="CADCFC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Source: 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5"/>
              </a:rPr>
              <a:t>https://psd1.net/pmc1/pmc1.zip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</a:p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98720" y="5166360"/>
            <a:ext cx="359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6"/>
              </a:rPr>
              <a:t>John Weisenfeld</a:t>
            </a: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·  Physics Teacher, Orion High School  ·  April 10, 2026 · </a:t>
            </a: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7"/>
              </a:rPr>
              <a:t>jweisenfeld@psd1.org</a:t>
            </a: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-975360" y="54025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3" name="Section Zoom 2"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40637226"/>
                  </p:ext>
                </p:extLst>
              </p:nvPr>
            </p:nvGraphicFramePr>
            <p:xfrm>
              <a:off x="2255783" y="1691837"/>
              <a:ext cx="4632434" cy="3474326"/>
            </p:xfrm>
            <a:graphic>
              <a:graphicData uri="http://schemas.microsoft.com/office/powerpoint/2016/sectionzoom">
                <psez:sectionZm>
                  <psez:sectionZmObj sectionId="{3B61981A-34B7-4122-AB31-B71C3C9B6127}">
                    <psez:zmPr id="{309F4209-FE7E-48E1-A9E0-51D5CE441F8D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632434" cy="347432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3" name="Section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55783" y="1691837"/>
                <a:ext cx="4632434" cy="347432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7961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B7B71-0F6D-817C-A11E-7992059D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831D-8EDE-B107-400D-3080A659C9C3}"/>
              </a:ext>
            </a:extLst>
          </p:cNvPr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John’s Observations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(If You Only Read One Slide)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0851A7-98C6-7E5C-E6D6-C3BF88E3F231}"/>
              </a:ext>
            </a:extLst>
          </p:cNvPr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6D1636-F594-C78A-B06D-E82ED98460C6}"/>
              </a:ext>
            </a:extLst>
          </p:cNvPr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all AI are created equal.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BCAD0C1-13B2-33BF-B2B4-FC5F33BD4D32}"/>
              </a:ext>
            </a:extLst>
          </p:cNvPr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66C078A-E4B3-D560-D5DF-FA05516D5D14}"/>
              </a:ext>
            </a:extLst>
          </p:cNvPr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have to pay something to get access to “best” models.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0F6C50-769C-9574-942C-FE5F78B0205A}"/>
              </a:ext>
            </a:extLst>
          </p:cNvPr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01053BB-3E70-09D2-46B3-321C55AAE973}"/>
              </a:ext>
            </a:extLst>
          </p:cNvPr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start paying, you have to stay on top of costs.  They can balloon quickly.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2729F0-ED7E-5EE0-8608-261362D6D009}"/>
              </a:ext>
            </a:extLst>
          </p:cNvPr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B3DD3A0-C49D-5A38-1B73-79CD3B867CC8}"/>
              </a:ext>
            </a:extLst>
          </p:cNvPr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“All these chatbots are a strategy to get you locked in long term” (Nate B. Jones)</a:t>
            </a: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57C9F07-3FBC-6097-D030-E219345DCF2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61DE9BA-9089-4F24-4A07-51B1C1F5193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26237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 (More Versions as of 4/8/2026)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32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3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</a:rPr>
              <a:t>Try it live: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https://psd1.net/pmc1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https://psd1.net/pmc2</a:t>
            </a:r>
            <a:endParaRPr lang="en-US" sz="20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https://psd1.net/pmc3 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Ask it anything about the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Pasco Municipal Code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56F0D7-F9AB-53A4-631A-27BF00127D83}"/>
              </a:ext>
            </a:extLst>
          </p:cNvPr>
          <p:cNvSpPr/>
          <p:nvPr/>
        </p:nvSpPr>
        <p:spPr>
          <a:xfrm>
            <a:off x="515398" y="5012234"/>
            <a:ext cx="8435193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NOTE:  I have since walked back </a:t>
            </a:r>
          </a:p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explicit caching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Typical(?)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919409" y="2967335"/>
            <a:ext cx="7305205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(What happened on 4/8)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6B371C-639A-28B4-E1F6-7B62B2BE0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337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944570-433C-AC75-3F0A-DAA7DE622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60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C67EC4-C693-66DC-170B-D0C140159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39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DA8506-521E-07F4-6620-CDBB298B6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20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(Is Gemini really best?)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17CBBC-1637-A20A-73FE-576A40DA7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F02F9A-6146-8391-A478-41BDE9904E98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Watch the burn!</a:t>
            </a:r>
          </a:p>
        </p:txBody>
      </p:sp>
    </p:spTree>
    <p:extLst>
      <p:ext uri="{BB962C8B-B14F-4D97-AF65-F5344CB8AC3E}">
        <p14:creationId xmlns:p14="http://schemas.microsoft.com/office/powerpoint/2010/main" val="1794909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681A5B-1366-7A60-D880-BC5F7EDD1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B1A58F-2DBD-C14E-7903-D05B45E16A2D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That’s Better!</a:t>
            </a:r>
          </a:p>
        </p:txBody>
      </p:sp>
    </p:spTree>
    <p:extLst>
      <p:ext uri="{BB962C8B-B14F-4D97-AF65-F5344CB8AC3E}">
        <p14:creationId xmlns:p14="http://schemas.microsoft.com/office/powerpoint/2010/main" val="18136280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6B3686-7CC8-D947-DE35-AA2DDC94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9CCB19FC-4344-E71D-FB1E-0463A5181C98}"/>
              </a:ext>
            </a:extLst>
          </p:cNvPr>
          <p:cNvSpPr/>
          <p:nvPr/>
        </p:nvSpPr>
        <p:spPr>
          <a:xfrm>
            <a:off x="7401138" y="2377809"/>
            <a:ext cx="1742862" cy="147343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Ruh-Roh!</a:t>
            </a:r>
          </a:p>
        </p:txBody>
      </p:sp>
    </p:spTree>
    <p:extLst>
      <p:ext uri="{BB962C8B-B14F-4D97-AF65-F5344CB8AC3E}">
        <p14:creationId xmlns:p14="http://schemas.microsoft.com/office/powerpoint/2010/main" val="1194883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16" y="2191522"/>
            <a:ext cx="710976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ChatGPT?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(It’s the best?  Isn’t it?)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6E788D-8935-99EE-B717-9828DB19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62" y="643467"/>
            <a:ext cx="66496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19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05E77-9C7D-2378-27E9-E780DDF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3" y="1123527"/>
            <a:ext cx="6675908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61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DF2C4-6F38-E59B-4848-216DD2662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E1BD39-DEF8-0E10-CDF7-06697184072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23FB8-14C9-9D6A-1C15-02598C3C7E72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0D967DC-4F6B-342F-6E89-548A6D21849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7B78396-C3CC-69D5-AC01-4EFCDF360BFA}"/>
              </a:ext>
            </a:extLst>
          </p:cNvPr>
          <p:cNvSpPr/>
          <p:nvPr/>
        </p:nvSpPr>
        <p:spPr>
          <a:xfrm>
            <a:off x="235086" y="2191522"/>
            <a:ext cx="8673849" cy="34163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Ask a Question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Any Language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Response is in Same Language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Even Complicated Questions</a:t>
            </a:r>
          </a:p>
        </p:txBody>
      </p:sp>
    </p:spTree>
    <p:extLst>
      <p:ext uri="{BB962C8B-B14F-4D97-AF65-F5344CB8AC3E}">
        <p14:creationId xmlns:p14="http://schemas.microsoft.com/office/powerpoint/2010/main" val="501027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769A60B6-1F84-7DA2-AB2F-4B3FE9A95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9144000" cy="1526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754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hlinkClick r:id="rId2"/>
            <a:extLst>
              <a:ext uri="{FF2B5EF4-FFF2-40B4-BE49-F238E27FC236}">
                <a16:creationId xmlns:a16="http://schemas.microsoft.com/office/drawing/2014/main" id="{D9726C10-2449-153D-760D-B5FD3FF76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3999" cy="1628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7274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D74945C7-F9E8-A55B-5CB5-DEFC90D78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29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4710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4FE2-A0F9-7D40-507B-C62D69F3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1E5E1-1D7D-2569-FE0E-825EF5F67454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5E9401-EFCC-6842-D099-BF1A93844343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4A5AC7-98DA-2871-D407-968A68C80FE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94F2D0-4E37-9E90-016D-0C0F373C5075}"/>
              </a:ext>
            </a:extLst>
          </p:cNvPr>
          <p:cNvSpPr/>
          <p:nvPr/>
        </p:nvSpPr>
        <p:spPr>
          <a:xfrm>
            <a:off x="847011" y="2191522"/>
            <a:ext cx="7449989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Backstory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“Design a Bus Stop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Civil Engineering Project”</a:t>
            </a:r>
          </a:p>
        </p:txBody>
      </p:sp>
    </p:spTree>
    <p:extLst>
      <p:ext uri="{BB962C8B-B14F-4D97-AF65-F5344CB8AC3E}">
        <p14:creationId xmlns:p14="http://schemas.microsoft.com/office/powerpoint/2010/main" val="22201473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3B32BC7-20A6-82CF-A83E-E0606F8C7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212" y="0"/>
            <a:ext cx="6395575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F5B962-99CE-C1F8-3C68-865D092824F7}"/>
              </a:ext>
            </a:extLst>
          </p:cNvPr>
          <p:cNvSpPr/>
          <p:nvPr/>
        </p:nvSpPr>
        <p:spPr>
          <a:xfrm rot="16200000">
            <a:off x="-769184" y="2674998"/>
            <a:ext cx="26945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Proposal</a:t>
            </a:r>
          </a:p>
        </p:txBody>
      </p:sp>
    </p:spTree>
    <p:extLst>
      <p:ext uri="{BB962C8B-B14F-4D97-AF65-F5344CB8AC3E}">
        <p14:creationId xmlns:p14="http://schemas.microsoft.com/office/powerpoint/2010/main" val="4142309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6F0ADF-B594-E3AF-52B7-CB25AB473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95936C-6A2A-1E2E-6CCB-3EA9A7F4C517}"/>
              </a:ext>
            </a:extLst>
          </p:cNvPr>
          <p:cNvSpPr/>
          <p:nvPr/>
        </p:nvSpPr>
        <p:spPr>
          <a:xfrm>
            <a:off x="-37706" y="1902569"/>
            <a:ext cx="563487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AI-Enhanced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Engineering Coach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782C5D-2761-773A-CE7F-029291E2D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464" y="1721096"/>
            <a:ext cx="3486637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94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29D759-F709-7CEA-4E2C-8D89C44A2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94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158</TotalTime>
  <Words>1073</Words>
  <Application>Microsoft Office PowerPoint</Application>
  <PresentationFormat>On-screen Show (4:3)</PresentationFormat>
  <Paragraphs>210</Paragraphs>
  <Slides>42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Courier New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17</cp:revision>
  <dcterms:created xsi:type="dcterms:W3CDTF">2026-04-08T16:45:41Z</dcterms:created>
  <dcterms:modified xsi:type="dcterms:W3CDTF">2026-04-10T10:55:25Z</dcterms:modified>
</cp:coreProperties>
</file>
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45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8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E049-E296-E330-DCB9-FD8D1B85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95B04-8784-2643-4F46-0B178A885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44592-F4ED-46CA-3304-75941E8FC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88F99-D018-0692-F84B-032CC6C25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7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A4D7A"/>
          </a:solidFill>
          <a:ln w="12700">
            <a:solidFill>
              <a:srgbClr val="2A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Pasco Municipal Code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Reference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Overview for City of Pasco 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John Weisenfeld  ·  Physics Teacher, Orion High School  ·  April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6126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http://orionhs.us/pmc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Share Freely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6126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tool — no login required. Share freely: http://orionhs.us/pmc</a:t>
            </a:r>
            <a:endParaRPr lang="en-US" sz="1700" dirty="0"/>
          </a:p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Hosted on psd1.net (cPanel server)</a:t>
            </a:r>
            <a:endParaRPr lang="en-US" sz="1700" dirty="0"/>
          </a:p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Capacity: dozens of concurrent users without issue</a:t>
            </a:r>
            <a:endParaRPr lang="en-US" sz="1700" dirty="0"/>
          </a:p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Flash queries typically cost $0.07-$0.15*</a:t>
            </a:r>
            <a:endParaRPr lang="en-US" sz="1700" dirty="0"/>
          </a:p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user data collected — all sessions are anonymous</a:t>
            </a: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endParaRPr lang="en-US" sz="1700" dirty="0">
              <a:solidFill>
                <a:srgbClr val="1E3A5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spcAft>
                <a:spcPts val="800"/>
              </a:spcAft>
            </a:pPr>
            <a:r>
              <a:rPr lang="en-US" sz="17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*See Appendix Slides for Breakdown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3474720"/>
            <a:ext cx="228600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34747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$0.01</a:t>
            </a:r>
            <a:endParaRPr lang="en-US" sz="4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per typical query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572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 language questions about the PMC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Cites exact section numbers (§X.XX.XXX)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Cross-references related titles &amp; chapters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Flags gaps, conflicts, and ambiguities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English &amp; Spanish &amp; ??? — auto-detected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Google Gemini models available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828800"/>
            <a:ext cx="3657600" cy="3200400"/>
          </a:xfrm>
          <a:prstGeom prst="rect">
            <a:avLst/>
          </a:prstGeom>
          <a:solidFill>
            <a:srgbClr val="1E3A5F"/>
          </a:solidFill>
          <a:ln w="317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0" y="18288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Try it live:</a:t>
            </a:r>
            <a:endParaRPr lang="en-US" sz="14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http://orionhs.us/pmc</a:t>
            </a:r>
            <a:endParaRPr lang="en-US" sz="14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Ask it anything about the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Pasco Municipal Code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37744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PMC Document</a:t>
            </a:r>
            <a:endParaRPr lang="en-US" sz="16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~938,000 tokens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Uploaded once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 Files API</a:t>
            </a:r>
            <a:endParaRPr lang="en-US" sz="16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Explicit Cache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12-hour TTL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37744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Query</a:t>
            </a:r>
            <a:endParaRPr lang="en-US" sz="16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Full context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Streamed response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825496"/>
            <a:ext cx="54864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0" y="2825496"/>
            <a:ext cx="54864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160520"/>
            <a:ext cx="8503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PHP backend proxy keeps API key secure — never exposed to the browser</a:t>
            </a:r>
            <a:endParaRPr lang="en-US" sz="1400" dirty="0"/>
          </a:p>
          <a:p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Server-Sent Events (SSE) deliver streaming responses in real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1887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 UI — single file, ~700 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850392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api-proxy.php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84708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Server-side proxy; streaming, caching, logging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505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cache-create.php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50545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Uploads PMC to Gemini Files API (daily cron)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118104"/>
            <a:ext cx="850392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63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cache-ping.php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1638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Keeps Files API URI alive every 23 hours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7764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strip-html.php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8221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 → clean text (~60% size reduction)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434840"/>
            <a:ext cx="850392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PMC-clean.txt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4805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 document — 3.75 MB, ~938k tokens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509320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51389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gemini_usage.log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51389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Per-query token &amp; cache usage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5751576"/>
            <a:ext cx="8503920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5797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query_logs/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57972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Anonymized monthly query logs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How Costs Stay 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Layer 1 — Files API</a:t>
            </a:r>
            <a:endParaRPr lang="en-US" sz="1800" dirty="0"/>
          </a:p>
          <a:p>
            <a:pPr marL="0" indent="0" algn="ctr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Document uploaded once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Valid 48 hours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Refreshed nightly by cron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Layer 2 — Context Cache</a:t>
            </a:r>
            <a:endParaRPr lang="en-US" sz="1800" dirty="0"/>
          </a:p>
          <a:p>
            <a:pPr marL="0" indent="0" algn="ctr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Document in Gemini hot memory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Valid 12 hours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~95% cache hit rate during business hours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3931920" cy="1554480"/>
          </a:xfrm>
          <a:prstGeom prst="rect">
            <a:avLst/>
          </a:prstGeom>
          <a:solidFill>
            <a:srgbClr val="F4F6F9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$0.002–0.005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</a:rPr>
              <a:t>Flash model / cached query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4160520"/>
            <a:ext cx="3931920" cy="1554480"/>
          </a:xfrm>
          <a:prstGeom prst="rect">
            <a:avLst/>
          </a:prstGeom>
          <a:solidFill>
            <a:srgbClr val="F4F6F9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$0.02–0.05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</a:rPr>
              <a:t>Pro model / cached query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for Any City Department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Any Document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Zoning, HR, Budgets, Permits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Own Folder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Isolated deployment per dept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 System Prompt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Defines AI expertise &amp; tone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2–4 Hours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Estimated setup per department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Shared API Key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Or each dept provisions their own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2926080"/>
            <a:ext cx="2651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29260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Under $20/mo</a:t>
            </a:r>
            <a:endParaRPr lang="en-US" sz="15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Typical city staff usage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6263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code is open source and sharable — no licensing or vendor lock-in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Need to Self-Host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325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server with PHP 7.4+ and cURL (Linux cPanel or equivalent)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Gemini API key (free at aistudio.google.com, usage-billed)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611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document in text or HTML format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4754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4754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4754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Cron job scheduler (standard on any Linux server)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325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325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21808" y="1325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database required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21808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user authentication required (optional)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611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3611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Docker or containers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4754880"/>
            <a:ext cx="3200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4754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</a:rPr>
              <a:t>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21808" y="4754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special hardware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0" cy="5303520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</a:t>
            </a: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Claude </a:t>
            </a: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156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 the live tool with planners and department heads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Schedule a 30-minute call to walk through the source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one city department as a pilot deployment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51560" y="4251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John shares all source code — no strings attached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2A4D7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John Weisenfeld  ·  jweisenfeld@psd1.org     </a:t>
            </a:r>
            <a:r>
              <a:rPr lang="en-US" sz="1400" b="1" dirty="0">
                <a:solidFill>
                  <a:srgbClr val="C9A84C"/>
                </a:solidFill>
              </a:rPr>
              <a:t>http://orionhs.us/pmc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E3B75-CCF9-925F-DFCB-FB97D858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3FF64E-6A4F-CEC4-7F43-6F42860D925B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C70E84-9DDC-92B2-F69C-7D8A5BCF549F}"/>
              </a:ext>
            </a:extLst>
          </p:cNvPr>
          <p:cNvSpPr/>
          <p:nvPr/>
        </p:nvSpPr>
        <p:spPr>
          <a:xfrm>
            <a:off x="320040" y="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Slides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2D1E39-FA88-4574-93B4-2E32E51D9AE6}"/>
              </a:ext>
            </a:extLst>
          </p:cNvPr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58F285-8D29-CFAA-4CCD-3687707E254F}"/>
              </a:ext>
            </a:extLst>
          </p:cNvPr>
          <p:cNvSpPr/>
          <p:nvPr/>
        </p:nvSpPr>
        <p:spPr>
          <a:xfrm>
            <a:off x="1002471" y="2967335"/>
            <a:ext cx="71390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What are the real costs?</a:t>
            </a:r>
          </a:p>
        </p:txBody>
      </p:sp>
    </p:spTree>
    <p:extLst>
      <p:ext uri="{BB962C8B-B14F-4D97-AF65-F5344CB8AC3E}">
        <p14:creationId xmlns:p14="http://schemas.microsoft.com/office/powerpoint/2010/main" val="356319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3C595-4059-C2E2-6D5D-D5EB0FB9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1518971"/>
            <a:ext cx="7554379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51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0C1DB-4EAD-6A6E-6B9E-8020202D6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461548"/>
            <a:ext cx="7535327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1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05F14-8EBD-1334-9C17-9DAB75B36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2576393"/>
            <a:ext cx="752580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36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CA751-E8A4-5FF0-4BFB-5D88A088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3" y="2042919"/>
            <a:ext cx="751627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265AB-1E2E-34B5-EB6B-77935FD7E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1747603"/>
            <a:ext cx="7535327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1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593</Words>
  <Application>Microsoft Office PowerPoint</Application>
  <PresentationFormat>On-screen Show (4:3)</PresentationFormat>
  <Paragraphs>141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Pasco Municipal Code AI Reference — Technical Overview</dc:title>
  <dc:subject>PptxGenJS Presentation</dc:subject>
  <dc:creator>John Weisenfeld</dc:creator>
  <cp:lastModifiedBy>John C. Weisenfeld</cp:lastModifiedBy>
  <cp:revision>5</cp:revision>
  <dcterms:created xsi:type="dcterms:W3CDTF">2026-04-08T16:45:41Z</dcterms:created>
  <dcterms:modified xsi:type="dcterms:W3CDTF">2026-04-09T08:44:02Z</dcterms:modified>
</cp:coreProperties>
</file>
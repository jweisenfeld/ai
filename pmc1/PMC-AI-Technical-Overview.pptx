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96" y="1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86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E049-E296-E330-DCB9-FD8D1B850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995B04-8784-2643-4F46-0B178A885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044592-F4ED-46CA-3304-75941E8FC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88F99-D018-0692-F84B-032CC6C25C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3717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362A-3954-9CE8-782D-6C4F76FFA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EA3842-8A06-B572-98D0-60C9E4432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6F19C6-748A-905E-79DE-EA373DD14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5C14A-4972-4A9C-CC65-D61FD8E199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8078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44880-5395-564F-D047-1BA3F7A13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80B7B-3F36-7914-7B69-131C1CC09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65EA-BE0F-8FB9-DC56-E76E23DE5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92029-E089-D96F-6CD3-C6DD53F8C9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4414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3CDC3-960B-DC8A-1E0E-941727EC6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D17D75-E61A-FDCD-1B4B-767AE8675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63371D-8E36-5DFC-3E9B-DF8DA8141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78724-5C29-33B6-A830-6A96A13890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88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Pasco Municipal Code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Reference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Overview for City of Pasco 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Weisenfeld  ·  Physics Teacher, Orion High School  ·  April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0" y="6126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http://orionhs.us/pmc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Share Freely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6126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tool — no login required. Share freely: http://orionhs.us/pmc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Hosted on psd1.net (cPanel server)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Capacity: dozens of concurrent users without issue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Flash queries typically cost $0.07-$0.15*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data collected — all sessions are anonymous</a:t>
            </a: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*See Appendix Slides for Breakdown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$0.11</a:t>
            </a:r>
            <a:endParaRPr lang="en-US" sz="48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per typical query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Does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Natural language questions about the PMC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Cites exact section numbers (§X.XX.XXX)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Cross-references related titles &amp; chapters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Flags gaps, conflicts, and ambiguities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English &amp; Spanish &amp; ??? — auto-detected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Multiple Google Gemini models available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Try it live: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Ask it anything about the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Pasco Municipal Code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PMC Document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~938,000 tokens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Uploaded once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Gemini Files API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Explicit Cache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12-hour TTL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User Query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Full context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Streamed response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3464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94360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4160520"/>
            <a:ext cx="8503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PHP backend proxy keeps API key secure — never exposed to the browser</a:t>
            </a:r>
            <a:endParaRPr lang="en-US" sz="1400" dirty="0"/>
          </a:p>
          <a:p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Server-Sent Events (SSE) deliver streaming responses in real time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Structure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118872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Chat UI — single file, ~700 lines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801368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8470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api-proxy.php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84708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Server-side proxy; streaming, caching, logging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45973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cache-create.php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5054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Uploads PMC to Gemini Files API (daily cron)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118104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cache-ping.php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316382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Keeps Files API URI alive every 23 hours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7647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38221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strip-html.php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382219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HTML → clean text (~60% size reduction)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434840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PMC-clean.txt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83280" y="44805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Clean document — 3.75 MB, ~938k tokens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50932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51389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gemini_usage.log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83280" y="513892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Per-query token &amp; cache usage log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5751576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11480" y="57972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query_logs/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579729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Anonymized monthly query logs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Query Costs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1 — Files API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Document uploaded once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48 hours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Refreshed nightly by cron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2 — Context Cache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Gemini holds document in hot memory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12 hours (lazy — created on first query)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Cache storage: $1.00 per 1M tokens/hour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$0.01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Flash-Lite / cached query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$0.10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 2.5 / cached query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$0.99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Pro 2.5 / cached query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Cache storage is the dominant cost: ~$9/day baseline. Recommended for city deployment: Flash model with implicit caching (no storage fee) — estimated $50–100/month at typical staff usage.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Replicating for Any City Department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Any Document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Zoning, HR, Budgets, Permits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Own Folder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Isolated deployment per dept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Custom System Prompt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Defines AI expertise &amp; tone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2–4 Hours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Estimated setup per department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Shared API Key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Or each dept provisions their own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Under $20/mo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Typical city staff usage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" y="6263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code is open source and sharable — no licensing or vendor lock-in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You'd Need to Self-Host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" y="1325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 server with PHP 7.4+ and cURL (Linux cPanel or equivalent)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3232" y="2468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Google Gemini API key (free at aistudio.google.com, usage-billed)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611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 document in text or HTML format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3232" y="4754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Cron job scheduler (standard on any Linux server)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21808" y="1325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database required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21808" y="2468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authentication required (optional)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21808" y="3611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Docker or containers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21808" y="4754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special hardware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54880" y="1188720"/>
            <a:ext cx="0" cy="5303520"/>
          </a:xfrm>
          <a:prstGeom prst="line">
            <a:avLst/>
          </a:prstGeom>
          <a:noFill/>
          <a:ln w="19050">
            <a:solidFill>
              <a:srgbClr val="C9A84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Claude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)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Share the live tool with planners and department heads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Schedule a 30-minute call to walk through the source code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Identify one city department as a pilot deployment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shares all source code — no strings attached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John Weisenfeld  ·  jweisenfeld@psd1.org     </a:t>
            </a: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6E3B75-CCF9-925F-DFCB-FB97D858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3FF64E-6A4F-CEC4-7F43-6F42860D925B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C70E84-9DDC-92B2-F69C-7D8A5BCF549F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2D1E39-FA88-4574-93B4-2E32E51D9AE6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58F285-8D29-CFAA-4CCD-3687707E254F}"/>
              </a:ext>
            </a:extLst>
          </p:cNvPr>
          <p:cNvSpPr/>
          <p:nvPr/>
        </p:nvSpPr>
        <p:spPr>
          <a:xfrm>
            <a:off x="1084229" y="2967335"/>
            <a:ext cx="6975563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Gemini?</a:t>
            </a:r>
          </a:p>
        </p:txBody>
      </p:sp>
    </p:spTree>
    <p:extLst>
      <p:ext uri="{BB962C8B-B14F-4D97-AF65-F5344CB8AC3E}">
        <p14:creationId xmlns:p14="http://schemas.microsoft.com/office/powerpoint/2010/main" val="3563193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83C595-4059-C2E2-6D5D-D5EB0FB9C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810" y="1518971"/>
            <a:ext cx="7554379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251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E0C1DB-4EAD-6A6E-6B9E-8020202D6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461548"/>
            <a:ext cx="7535327" cy="593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01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505F14-8EBD-1334-9C17-9DAB75B36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00" y="2576393"/>
            <a:ext cx="7525800" cy="17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9361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BCA751-E8A4-5FF0-4BFB-5D88A0881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63" y="2042919"/>
            <a:ext cx="7516274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72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E265AB-1E2E-34B5-EB6B-77935FD7E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1747603"/>
            <a:ext cx="7535327" cy="3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818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2B84B-FA4E-BDFA-C219-039A0C91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A1030CC-B95D-CA2F-E42D-FDCBD4544688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5666B5-E130-EB60-C10E-A1D670675D75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8597C6B-B620-1D90-5F3A-6077BD4DEB8C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1000D71-F914-9417-0188-901685256032}"/>
              </a:ext>
            </a:extLst>
          </p:cNvPr>
          <p:cNvSpPr/>
          <p:nvPr/>
        </p:nvSpPr>
        <p:spPr>
          <a:xfrm>
            <a:off x="1084229" y="2967335"/>
            <a:ext cx="6975563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Claude?</a:t>
            </a:r>
          </a:p>
        </p:txBody>
      </p:sp>
    </p:spTree>
    <p:extLst>
      <p:ext uri="{BB962C8B-B14F-4D97-AF65-F5344CB8AC3E}">
        <p14:creationId xmlns:p14="http://schemas.microsoft.com/office/powerpoint/2010/main" val="30538919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AB10B9-080C-BCB7-C874-1FC86387B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918812"/>
            <a:ext cx="7535327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5471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9AC412-82CA-2ED4-8815-BA0A162A0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810" y="1604708"/>
            <a:ext cx="7554379" cy="3648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6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676E3E-344D-065F-AC22-C09C6F5EB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1099812"/>
            <a:ext cx="7535327" cy="46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835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FE1DCA-D3C9-A2F2-9EC2-2BB1DA1A7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63" y="337706"/>
            <a:ext cx="7516274" cy="618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6960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E6871B-935D-6BD5-0811-AEDD39D1F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204337"/>
            <a:ext cx="7535327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630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416E4F-F7B0-3365-4F34-930357A64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EFD1AD2-8817-6B00-55AE-AFB110166E60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11293A5-D60A-A77C-74A6-35587A7D3634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 is Which?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6433EB1-274F-3BCD-554C-A62C79EEEA1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1CC9ECC-451D-C085-4BF1-0C4C3E5D652F}"/>
              </a:ext>
            </a:extLst>
          </p:cNvPr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pmc1 is Gemini-based.</a:t>
            </a:r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pmc2 is Claude-based.</a:t>
            </a:r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pmc3 is ChatGPT-based.</a:t>
            </a:r>
          </a:p>
          <a:p>
            <a:pPr>
              <a:spcAft>
                <a:spcPts val="700"/>
              </a:spcAft>
            </a:pPr>
            <a:endParaRPr lang="en-US" sz="15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700"/>
              </a:spcAft>
            </a:pPr>
            <a:endParaRPr lang="en-US" sz="15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1EB98EE-CC60-40BE-D2C1-40334C8C182A}"/>
              </a:ext>
            </a:extLst>
          </p:cNvPr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0CD30E-BC28-4894-1F4F-0546BAB9FEDA}"/>
              </a:ext>
            </a:extLst>
          </p:cNvPr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Try it live: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algn="ctr"/>
            <a:r>
              <a:rPr lang="en-US" b="1" dirty="0">
                <a:solidFill>
                  <a:srgbClr val="C9A84C"/>
                </a:solidFill>
              </a:rPr>
              <a:t>https://psd1.net/pmc1</a:t>
            </a:r>
            <a:endParaRPr lang="en-US" sz="1400" dirty="0"/>
          </a:p>
          <a:p>
            <a:pPr algn="ctr"/>
            <a:r>
              <a:rPr lang="en-US" b="1" dirty="0">
                <a:solidFill>
                  <a:srgbClr val="C9A84C"/>
                </a:solidFill>
              </a:rPr>
              <a:t>https://psd1.net/pmc2</a:t>
            </a:r>
            <a:endParaRPr lang="en-US" sz="14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https://psd1.net/pmc</a:t>
            </a:r>
            <a:r>
              <a:rPr lang="en-US" b="1" dirty="0">
                <a:solidFill>
                  <a:srgbClr val="C9A84C"/>
                </a:solidFill>
              </a:rPr>
              <a:t>3 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Ask it anything about the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Pasco Municipal Code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43503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BBC48B-7159-82AA-D98C-F5466301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00F427-41DA-880B-405B-409954CF0BA6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99253D-D28E-5DF0-402E-9E66DF19EA41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36075-5450-36E9-DF18-D784AE7EE67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3EA0C88-66A4-2D63-C556-88A1C892CA37}"/>
              </a:ext>
            </a:extLst>
          </p:cNvPr>
          <p:cNvSpPr/>
          <p:nvPr/>
        </p:nvSpPr>
        <p:spPr>
          <a:xfrm>
            <a:off x="1017127" y="2967335"/>
            <a:ext cx="7109767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</a:t>
            </a:r>
            <a:r>
              <a:rPr lang="en-US" sz="5400" b="1" cap="none" spc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use ChatGPT?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653298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506A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6E788D-8935-99EE-B717-9828DB194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162" y="643467"/>
            <a:ext cx="6649674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5219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9FF99BD-075F-4761-A995-6FC574BD25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B21A54-9BA3-4EA9-B460-5A829ADD9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A8F714-B9D8-488A-8CCA-E9948FF91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599" y="643468"/>
            <a:ext cx="8178800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A05E77-9C7D-2378-27E9-E780DDF61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043" y="1123527"/>
            <a:ext cx="6675908" cy="4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466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728</Words>
  <Application>Microsoft Office PowerPoint</Application>
  <PresentationFormat>On-screen Show (4:3)</PresentationFormat>
  <Paragraphs>166</Paragraphs>
  <Slides>25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Pasco Municipal Code AI Reference — Technical Overview</dc:title>
  <dc:subject>PptxGenJS Presentation</dc:subject>
  <dc:creator>John Weisenfeld</dc:creator>
  <cp:lastModifiedBy>John C. Weisenfeld</cp:lastModifiedBy>
  <cp:revision>8</cp:revision>
  <dcterms:created xsi:type="dcterms:W3CDTF">2026-04-08T16:45:41Z</dcterms:created>
  <dcterms:modified xsi:type="dcterms:W3CDTF">2026-04-09T18:36:34Z</dcterms:modified>
</cp:coreProperties>
</file>
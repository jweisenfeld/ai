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5" r:id="rId12"/>
    <p:sldId id="267" r:id="rId13"/>
    <p:sldId id="268" r:id="rId14"/>
    <p:sldId id="269" r:id="rId15"/>
    <p:sldId id="270" r:id="rId16"/>
  </p:sldIdLst>
  <p:sldSz cx="9144000" cy="6858000" type="screen4x3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57" d="100"/>
          <a:sy n="157" d="100"/>
        </p:scale>
        <p:origin x="4452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35868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E4E049-E296-E330-DCB9-FD8D1B85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995B04-8784-2643-4F46-0B178A8855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044592-F4ED-46CA-3304-75941E8FC1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D88F99-D018-0692-F84B-032CC6C25C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371786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14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5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97280"/>
            <a:ext cx="804672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Pasco Municipal Code</a:t>
            </a:r>
            <a:endParaRPr lang="en-US" sz="4400" dirty="0"/>
          </a:p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Reference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CADCF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Technical Overview for City of Pasco IT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Weisenfeld  ·  Physics Teacher, Orion High School  ·  April 2026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0" y="612648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http://orionhs.us/pmc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Share Freely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612648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Public tool — no login required. Share freely: http://orionhs.us/pmc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Hosted on psd1.net (cPanel server)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Capacity: dozens of concurrent users without issue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Flash queries typically cost $0.07-$0.15*</a:t>
            </a:r>
            <a:endParaRPr lang="en-US" sz="1700" dirty="0"/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data collected — all sessions are anonymous</a:t>
            </a: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endParaRPr lang="en-US" sz="1700" dirty="0">
              <a:solidFill>
                <a:srgbClr val="1E3A5F"/>
              </a:solidFill>
              <a:latin typeface="Calibri Light" pitchFamily="34" charset="0"/>
              <a:ea typeface="Calibri Light" pitchFamily="34" charset="-122"/>
              <a:cs typeface="Calibri Light" pitchFamily="34" charset="-120"/>
            </a:endParaRPr>
          </a:p>
          <a:p>
            <a:pPr>
              <a:spcAft>
                <a:spcPts val="800"/>
              </a:spcAft>
            </a:pPr>
            <a:r>
              <a:rPr lang="en-US" sz="17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*See Appendix Slides for Breakdown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583680" y="3474720"/>
            <a:ext cx="2286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</a:rPr>
              <a:t>$0.01</a:t>
            </a:r>
            <a:endParaRPr lang="en-US" sz="48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per typical query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Tool Does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234440"/>
            <a:ext cx="4572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Natural language questions about the PMC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Cites exact section numbers (§X.XX.XXX)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Cross-references related titles &amp; chapters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Flags gaps, conflicts, and ambiguities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English &amp; Spanish &amp; ??? — auto-detected</a:t>
            </a:r>
            <a:endParaRPr lang="en-US" sz="1500" dirty="0"/>
          </a:p>
          <a:p>
            <a:pPr>
              <a:spcAft>
                <a:spcPts val="700"/>
              </a:spcAft>
            </a:pPr>
            <a:r>
              <a:rPr lang="en-US" sz="15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Multiple Google Gemini models available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solidFill>
            <a:srgbClr val="1E3A5F"/>
          </a:solidFill>
          <a:ln w="317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212080" y="1828800"/>
            <a:ext cx="3657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ADCFC"/>
                </a:solidFill>
              </a:rPr>
              <a:t>Try it live: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  <a:p>
            <a:pPr marL="0" indent="0" algn="ctr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Ask it anything about the</a:t>
            </a:r>
            <a:endParaRPr lang="en-US" sz="1400" dirty="0"/>
          </a:p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</a:rPr>
              <a:t>Pasco Municipal Code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PMC Document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~938,000 tokens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Uploaded once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Gemini Files API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Explicit Cache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12-hour TTL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09360" y="1828800"/>
            <a:ext cx="2377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</a:rPr>
              <a:t>User Query</a:t>
            </a:r>
            <a:endParaRPr lang="en-US" sz="16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Full context</a:t>
            </a:r>
            <a:endParaRPr lang="en-US" sz="1600" dirty="0"/>
          </a:p>
          <a:p>
            <a:pPr marL="0" indent="0" algn="ctr">
              <a:buNone/>
            </a:pPr>
            <a:r>
              <a:rPr lang="en-US" sz="1300" dirty="0">
                <a:solidFill>
                  <a:srgbClr val="CADCFC"/>
                </a:solidFill>
              </a:rPr>
              <a:t>Streamed response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83464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943600" y="2825496"/>
            <a:ext cx="548640" cy="0"/>
          </a:xfrm>
          <a:prstGeom prst="line">
            <a:avLst/>
          </a:prstGeom>
          <a:noFill/>
          <a:ln w="31750">
            <a:solidFill>
              <a:srgbClr val="C9A84C"/>
            </a:solidFill>
            <a:prstDash val="solid"/>
            <a:tailEnd type="arrow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4160520"/>
            <a:ext cx="8503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PHP backend proxy keeps API key secure — never exposed to the browser</a:t>
            </a:r>
            <a:endParaRPr lang="en-US" sz="1400" dirty="0"/>
          </a:p>
          <a:p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Server-Sent Events (SSE) deliver streaming responses in real time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Structure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11887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index.html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83280" y="118872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Chat UI — single file, ~700 lines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" y="1801368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11480" y="184708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api-proxy.php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383280" y="184708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Server-side proxy; streaming, caching, logging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" y="2459736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250545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cache-create.php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83280" y="250545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Uploads PMC to Gemini Files API (daily cron)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3118104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114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cache-ping.php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3163824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Keeps Files API URI alive every 23 hours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76472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38221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strip-html.php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383280" y="3822192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HTML → clean text (~60% size reduction)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20040" y="4434840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11480" y="4480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PMC-clean.txt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383280" y="448056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Clean document — 3.75 MB, ~938k tokens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20040" y="5093208"/>
            <a:ext cx="850392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11480" y="5138928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gemini_usage.log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83280" y="5138928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Per-query token &amp; cache usage log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20040" y="5751576"/>
            <a:ext cx="8503920" cy="658368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11480" y="5797296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1E3A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query_logs/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83280" y="5797296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C2C2C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Anonymized monthly query logs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Query Costs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1 — Files API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 xml:space="preserve"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Document uploaded once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48 hours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Refreshed nightly by cron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solidFill>
            <a:srgbClr val="1E3A5F"/>
          </a:solidFill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0" y="12801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Layer 2 — Context Cache</a:t>
            </a:r>
            <a:endParaRPr lang="en-US" sz="18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FFFFFF"/>
                </a:solidFill>
              </a:rPr>
              <a:t xml:space="preserve"> </a:t>
            </a:r>
            <a:endParaRPr lang="en-US" sz="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Gemini holds document in hot memory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Valid 12 hours (lazy — created on first query)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CADCFC"/>
                </a:solidFill>
              </a:rPr>
              <a:t>Cache storage: $1.00 per 1M tokens/hour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$0.01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Flash-Lite / cached query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766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$0.10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Flash 2.5 / cached query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solidFill>
            <a:srgbClr val="F4F6F9"/>
          </a:solidFill>
          <a:ln w="190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096000" y="3718560"/>
            <a:ext cx="25908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C9A84C"/>
                </a:solidFill>
              </a:rPr>
              <a:t>$0.99</a:t>
            </a:r>
            <a:endParaRPr lang="en-US" sz="4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E3A5F"/>
                </a:solidFill>
              </a:rPr>
              <a:t>Pro 2.5 / cached query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solidFill>
            <a:srgbClr val="2A4D7A"/>
          </a:solidFill>
          <a:ln w="12700">
            <a:solidFill>
              <a:srgbClr val="2A4D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57200" y="5030160"/>
            <a:ext cx="8229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>Cache storage is the dominant cost: ~$9/day baseline. Recommended for city deployment: Flash model with implicit caching (no storage fee) — estimated $50–100/month at typical staff usage.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Replicating for Any City Department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Any Document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Zoning, HR, Budgets, Permits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20040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Own Folder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Isolated deployment per dept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080760" y="123444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Custom System Prompt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Defines AI expertise &amp; tone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2–4 Hours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Estimated setup per department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Shared API Key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Or each dept provisions their own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solidFill>
            <a:srgbClr val="1E3A5F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080760" y="2926080"/>
            <a:ext cx="265176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Under $20/mo</a:t>
            </a:r>
            <a:endParaRPr lang="en-US" sz="1500" dirty="0"/>
          </a:p>
          <a:p>
            <a:pPr marL="0" indent="0" algn="ctr">
              <a:buNone/>
            </a:pPr>
            <a:r>
              <a:rPr lang="en-US" sz="400" dirty="0">
                <a:solidFill>
                  <a:srgbClr val="000000"/>
                </a:solidFill>
              </a:rPr>
              <a:t>
</a:t>
            </a:r>
            <a:endParaRPr lang="en-US" sz="15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</a:rPr>
              <a:t>Typical city staff usage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" y="6263640"/>
            <a:ext cx="8503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All code is open source and sharable — no licensing or vendor lock-in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You'd Need to Self-Host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13232" y="1325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Web server with PHP 7.4+ and cURL (Linux cPanel or equivalent)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13232" y="2468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Google Gemini API key (free at aistudio.google.com, usage-billed)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004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13232" y="3611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Source document in text or HTML format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84C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3840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Cron job scheduler (standard on any Linux server)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37760" y="1325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5321808" y="1325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database required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37760" y="2468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321808" y="2468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user authentication required (optional)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37760" y="3611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321808" y="3611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Docker or containers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solidFill>
            <a:srgbClr val="F4F6F9"/>
          </a:solidFill>
          <a:ln w="12700">
            <a:solidFill>
              <a:srgbClr val="F4F6F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0" y="475488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0392B"/>
                </a:solidFill>
              </a:rPr>
              <a:t>✗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21808" y="475488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E3A5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No special hardware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754880" y="1188720"/>
            <a:ext cx="0" cy="5303520"/>
          </a:xfrm>
          <a:prstGeom prst="line">
            <a:avLst/>
          </a:prstGeom>
          <a:noFill/>
          <a:ln w="19050">
            <a:solidFill>
              <a:srgbClr val="C9A84C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0467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Next Steps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(from Claude </a:t>
            </a:r>
            <a:r>
              <a:rPr lang="en-US" sz="440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sym typeface="Wingdings" panose="05000000000000000000" pitchFamily="2" charset="2"/>
              </a:rPr>
              <a:t>)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51560" y="137160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Share the live tool with planners and department heads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051560" y="233172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Schedule a 30-minute call to walk through the source code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329184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1051560" y="32918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Identify one city department as a pilot deployment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425196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051560" y="425196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John shares all source code — no strings attached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solidFill>
            <a:srgbClr val="2A4D7A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57200" y="566928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</a:rPr>
              <a:t xml:space="preserve">John Weisenfeld  ·  jweisenfeld@psd1.org     </a:t>
            </a:r>
            <a:r>
              <a:rPr lang="en-US" sz="1400" b="1" dirty="0">
                <a:solidFill>
                  <a:srgbClr val="C9A84C"/>
                </a:solidFill>
              </a:rPr>
              <a:t>http://orionhs.us/pmc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6E3B75-CCF9-925F-DFCB-FB97D8586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3FF64E-6A4F-CEC4-7F43-6F42860D925B}"/>
              </a:ext>
            </a:extLst>
          </p:cNvPr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EC70E84-9DDC-92B2-F69C-7D8A5BCF549F}"/>
              </a:ext>
            </a:extLst>
          </p:cNvPr>
          <p:cNvSpPr/>
          <p:nvPr/>
        </p:nvSpPr>
        <p:spPr>
          <a:xfrm>
            <a:off x="320040" y="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Slides</a:t>
            </a:r>
            <a:endParaRPr lang="en-US" sz="28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C72D1E39-FA88-4574-93B4-2E32E51D9AE6}"/>
              </a:ext>
            </a:extLst>
          </p:cNvPr>
          <p:cNvSpPr/>
          <p:nvPr/>
        </p:nvSpPr>
        <p:spPr>
          <a:xfrm>
            <a:off x="0" y="1005840"/>
            <a:ext cx="73152" cy="585216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F58F285-8D29-CFAA-4CCD-3687707E254F}"/>
              </a:ext>
            </a:extLst>
          </p:cNvPr>
          <p:cNvSpPr/>
          <p:nvPr/>
        </p:nvSpPr>
        <p:spPr>
          <a:xfrm>
            <a:off x="1002471" y="2967335"/>
            <a:ext cx="7139070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What are the real costs?</a:t>
            </a:r>
          </a:p>
        </p:txBody>
      </p:sp>
    </p:spTree>
    <p:extLst>
      <p:ext uri="{BB962C8B-B14F-4D97-AF65-F5344CB8AC3E}">
        <p14:creationId xmlns:p14="http://schemas.microsoft.com/office/powerpoint/2010/main" val="35631936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C83C595-4059-C2E2-6D5D-D5EB0FB9CB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810" y="1518971"/>
            <a:ext cx="7554379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251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7E0C1DB-4EAD-6A6E-6B9E-8020202D62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461548"/>
            <a:ext cx="7535327" cy="5934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019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4505F14-8EBD-1334-9C17-9DAB75B36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100" y="2576393"/>
            <a:ext cx="7525800" cy="1705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19361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BCA751-E8A4-5FF0-4BFB-5D88A0881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63" y="2042919"/>
            <a:ext cx="7516274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572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EE265AB-1E2E-34B5-EB6B-77935FD7EB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336" y="1747603"/>
            <a:ext cx="7535327" cy="3362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8188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593</Words>
  <Application>Microsoft Office PowerPoint</Application>
  <PresentationFormat>On-screen Show (4:3)</PresentationFormat>
  <Paragraphs>141</Paragraphs>
  <Slides>15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Arial</vt:lpstr>
      <vt:lpstr>Calibri</vt:lpstr>
      <vt:lpstr>Calibri Light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Pasco Municipal Code AI Reference — Technical Overview</dc:title>
  <dc:subject>PptxGenJS Presentation</dc:subject>
  <dc:creator>John Weisenfeld</dc:creator>
  <cp:lastModifiedBy>John C. Weisenfeld</cp:lastModifiedBy>
  <cp:revision>5</cp:revision>
  <dcterms:created xsi:type="dcterms:W3CDTF">2026-04-08T16:45:41Z</dcterms:created>
  <dcterms:modified xsi:type="dcterms:W3CDTF">2026-04-09T08:44:02Z</dcterms:modified>
</cp:coreProperties>
</file>
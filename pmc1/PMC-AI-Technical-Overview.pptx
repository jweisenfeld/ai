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44"/>
  </p:notesMasterIdLst>
  <p:sldIdLst>
    <p:sldId id="256" r:id="rId2"/>
    <p:sldId id="295" r:id="rId3"/>
    <p:sldId id="285" r:id="rId4"/>
    <p:sldId id="277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5" r:id="rId15"/>
    <p:sldId id="267" r:id="rId16"/>
    <p:sldId id="268" r:id="rId17"/>
    <p:sldId id="269" r:id="rId18"/>
    <p:sldId id="270" r:id="rId19"/>
    <p:sldId id="281" r:id="rId20"/>
    <p:sldId id="282" r:id="rId21"/>
    <p:sldId id="283" r:id="rId22"/>
    <p:sldId id="284" r:id="rId23"/>
    <p:sldId id="271" r:id="rId24"/>
    <p:sldId id="272" r:id="rId25"/>
    <p:sldId id="273" r:id="rId26"/>
    <p:sldId id="274" r:id="rId27"/>
    <p:sldId id="275" r:id="rId28"/>
    <p:sldId id="276" r:id="rId29"/>
    <p:sldId id="286" r:id="rId30"/>
    <p:sldId id="287" r:id="rId31"/>
    <p:sldId id="288" r:id="rId32"/>
    <p:sldId id="278" r:id="rId33"/>
    <p:sldId id="279" r:id="rId34"/>
    <p:sldId id="280" r:id="rId35"/>
    <p:sldId id="299" r:id="rId36"/>
    <p:sldId id="296" r:id="rId37"/>
    <p:sldId id="297" r:id="rId38"/>
    <p:sldId id="298" r:id="rId39"/>
    <p:sldId id="290" r:id="rId40"/>
    <p:sldId id="294" r:id="rId41"/>
    <p:sldId id="293" r:id="rId42"/>
    <p:sldId id="292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84EEA54-6324-4A09-B3FB-F92E4D0848D3}">
          <p14:sldIdLst>
            <p14:sldId id="256"/>
            <p14:sldId id="295"/>
            <p14:sldId id="285"/>
            <p14:sldId id="277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emini" id="{E6EEA790-E718-4AFB-A3A4-106361C29AF3}">
          <p14:sldIdLst>
            <p14:sldId id="266"/>
            <p14:sldId id="265"/>
            <p14:sldId id="267"/>
            <p14:sldId id="268"/>
            <p14:sldId id="269"/>
            <p14:sldId id="270"/>
            <p14:sldId id="281"/>
            <p14:sldId id="282"/>
            <p14:sldId id="283"/>
            <p14:sldId id="284"/>
          </p14:sldIdLst>
        </p14:section>
        <p14:section name="Claude" id="{4F6BE9A9-D516-47BB-8FBB-EDDB5119DFC2}">
          <p14:sldIdLst>
            <p14:sldId id="271"/>
            <p14:sldId id="272"/>
            <p14:sldId id="273"/>
            <p14:sldId id="274"/>
            <p14:sldId id="275"/>
            <p14:sldId id="276"/>
            <p14:sldId id="286"/>
            <p14:sldId id="287"/>
            <p14:sldId id="288"/>
          </p14:sldIdLst>
        </p14:section>
        <p14:section name="ChatGPT" id="{45F2D83A-D2E5-4AC9-85EF-C421A41CBE90}">
          <p14:sldIdLst>
            <p14:sldId id="278"/>
            <p14:sldId id="279"/>
            <p14:sldId id="280"/>
          </p14:sldIdLst>
        </p14:section>
        <p14:section name="Multilingual" id="{54AA985A-3713-4357-9AE7-A43B87CFFF9C}">
          <p14:sldIdLst>
            <p14:sldId id="299"/>
            <p14:sldId id="296"/>
            <p14:sldId id="297"/>
            <p14:sldId id="298"/>
          </p14:sldIdLst>
        </p14:section>
        <p14:section name="Backstory" id="{3B61981A-34B7-4122-AB31-B71C3C9B6127}">
          <p14:sldIdLst>
            <p14:sldId id="290"/>
            <p14:sldId id="294"/>
            <p14:sldId id="293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9" autoAdjust="0"/>
    <p:restoredTop sz="94610"/>
  </p:normalViewPr>
  <p:slideViewPr>
    <p:cSldViewPr snapToGrid="0" snapToObjects="1">
      <p:cViewPr>
        <p:scale>
          <a:sx n="50" d="100"/>
          <a:sy n="50" d="100"/>
        </p:scale>
        <p:origin x="1812" y="1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86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E7818-7983-9C71-56E0-26E17CF8D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9B40D0-0605-C5AC-4B89-528BD7D02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273A1-66FE-1F7F-476C-4AF080C9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63770-C410-CB91-C2C7-0472C04CCB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5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44880-5395-564F-D047-1BA3F7A1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80B7B-3F36-7914-7B69-131C1CC09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65EA-BE0F-8FB9-DC56-E76E23DE5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92029-E089-D96F-6CD3-C6DD53F8C9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41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E049-E296-E330-DCB9-FD8D1B8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95B04-8784-2643-4F46-0B178A885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44592-F4ED-46CA-3304-75941E8FC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88F99-D018-0692-F84B-032CC6C25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3717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asked Claude to corroborate the logs of Gemini usage with the Gemini daily costs.</a:t>
            </a:r>
          </a:p>
        </p:txBody>
      </p:sp>
    </p:spTree>
    <p:extLst>
      <p:ext uri="{BB962C8B-B14F-4D97-AF65-F5344CB8AC3E}">
        <p14:creationId xmlns:p14="http://schemas.microsoft.com/office/powerpoint/2010/main" val="29147735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Total costs has two components, caching and inference (queries).</a:t>
            </a:r>
          </a:p>
        </p:txBody>
      </p:sp>
    </p:spTree>
    <p:extLst>
      <p:ext uri="{BB962C8B-B14F-4D97-AF65-F5344CB8AC3E}">
        <p14:creationId xmlns:p14="http://schemas.microsoft.com/office/powerpoint/2010/main" val="586269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Caching is a large cost.  You need to ask yourself, what caching gets you?  Faster responses?  Better responses?</a:t>
            </a:r>
          </a:p>
        </p:txBody>
      </p:sp>
    </p:spTree>
    <p:extLst>
      <p:ext uri="{BB962C8B-B14F-4D97-AF65-F5344CB8AC3E}">
        <p14:creationId xmlns:p14="http://schemas.microsoft.com/office/powerpoint/2010/main" val="38260551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made this change on Wednesday 4/8/2026 to remove Explicit caching.  Making a cache in the cloud has too many failure modes, and I deemed not enough payoff.</a:t>
            </a:r>
          </a:p>
        </p:txBody>
      </p:sp>
    </p:spTree>
    <p:extLst>
      <p:ext uri="{BB962C8B-B14F-4D97-AF65-F5344CB8AC3E}">
        <p14:creationId xmlns:p14="http://schemas.microsoft.com/office/powerpoint/2010/main" val="35439045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This change happened on 4/8/2026.</a:t>
            </a:r>
          </a:p>
        </p:txBody>
      </p:sp>
    </p:spTree>
    <p:extLst>
      <p:ext uri="{BB962C8B-B14F-4D97-AF65-F5344CB8AC3E}">
        <p14:creationId xmlns:p14="http://schemas.microsoft.com/office/powerpoint/2010/main" val="34969975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362A-3954-9CE8-782D-6C4F76F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3842-8A06-B572-98D0-60C9E4432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F19C6-748A-905E-79DE-EA373DD14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5C14A-4972-4A9C-CC65-D61FD8E199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07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3CDC3-960B-DC8A-1E0E-941727EC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17D75-E61A-FDCD-1B4B-767AE8675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3371D-8E36-5DFC-3E9B-DF8DA8141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78724-5C29-33B6-A830-6A96A13890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880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E71E-DF4F-A1EA-94D0-104EB52E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6669BD-2AF0-3D7B-1526-B66753A230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81712D-B75E-0FF7-7ACE-160BA1FA64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A2D7-7050-1A19-5724-708E3BDB9C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3254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65172-E539-008D-6577-B8FAD5CE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A086B-D0AB-FC2E-C61D-876AC3816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3ECFD3-9E6D-3816-BFD2-807AE2681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2F497-8C40-A109-FC43-DA1A123555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5172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http://psd1.net/pmc1/Can-High-School-Students-and-AI-Design-a-Bus-Stop-Shelter.pdf </a:t>
            </a:r>
          </a:p>
        </p:txBody>
      </p:sp>
    </p:spTree>
    <p:extLst>
      <p:ext uri="{BB962C8B-B14F-4D97-AF65-F5344CB8AC3E}">
        <p14:creationId xmlns:p14="http://schemas.microsoft.com/office/powerpoint/2010/main" val="2334952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82754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47607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3061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7921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18781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8794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58500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01132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68597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35252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9816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45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9508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sd1.net/pmc1/PMC-AI-Technical-Overview.pptx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tiny.cc/rayzoomay" TargetMode="External"/><Relationship Id="rId4" Type="http://schemas.openxmlformats.org/officeDocument/2006/relationships/hyperlink" Target="http://orionhs.us/20260410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psd1.net/pmc1/QuestionInEnglish.png" TargetMode="Externa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psd1.net/pmc1/QuestionInSpanish.png" TargetMode="Externa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psd1.net/pmc1/QuestionInRussian.png" TargetMode="Externa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psd1.net/pmc1/Can-High-School-Students-and-AI-Design-a-Bus-Stop-Shelter.pdf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</a:p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3"/>
              </a:rPr>
              <a:t>https://psd1.net/pmc1/PMC-AI-Technical-Overview.pptx</a:t>
            </a:r>
            <a:endParaRPr lang="en-US" sz="2400" dirty="0">
              <a:solidFill>
                <a:srgbClr val="CADCFC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4"/>
              </a:rPr>
              <a:t>http://orionhs.us/20260410</a:t>
            </a: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51663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5"/>
              </a:rPr>
              <a:t>John Weisenfeld</a:t>
            </a: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·  Physics Teacher, Orion High School  ·  April 10,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6126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3" name="Section Zoom 2">
                <a:extLst>
                  <a:ext uri="{FF2B5EF4-FFF2-40B4-BE49-F238E27FC236}">
                    <a16:creationId xmlns:a16="http://schemas.microsoft.com/office/drawing/2014/main" id="{2C81DECB-705A-ABDE-5195-207FE2CA7BB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40637226"/>
                  </p:ext>
                </p:extLst>
              </p:nvPr>
            </p:nvGraphicFramePr>
            <p:xfrm>
              <a:off x="2255783" y="1691837"/>
              <a:ext cx="4632434" cy="3474326"/>
            </p:xfrm>
            <a:graphic>
              <a:graphicData uri="http://schemas.microsoft.com/office/powerpoint/2016/sectionzoom">
                <psez:sectionZm>
                  <psez:sectionZmObj sectionId="{3B61981A-34B7-4122-AB31-B71C3C9B6127}">
                    <psez:zmPr id="{309F4209-FE7E-48E1-A9E0-51D5CE441F8D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632434" cy="347432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3" name="Section Zoom 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2C81DECB-705A-ABDE-5195-207FE2CA7B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55783" y="1691837"/>
                <a:ext cx="4632434" cy="347432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7961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B7B71-0F6D-817C-A11E-7992059DE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831D-8EDE-B107-400D-3080A659C9C3}"/>
              </a:ext>
            </a:extLst>
          </p:cNvPr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John’s Observations </a:t>
            </a:r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(If You Only Read One Slide)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0851A7-98C6-7E5C-E6D6-C3BF88E3F231}"/>
              </a:ext>
            </a:extLst>
          </p:cNvPr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F6D1636-F594-C78A-B06D-E82ED98460C6}"/>
              </a:ext>
            </a:extLst>
          </p:cNvPr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all AI are created equal.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BCAD0C1-13B2-33BF-B2B4-FC5F33BD4D32}"/>
              </a:ext>
            </a:extLst>
          </p:cNvPr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66C078A-E4B3-D560-D5DF-FA05516D5D14}"/>
              </a:ext>
            </a:extLst>
          </p:cNvPr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have to pay something to get access to “best” models.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B0F6C50-769C-9574-942C-FE5F78B0205A}"/>
              </a:ext>
            </a:extLst>
          </p:cNvPr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01053BB-3E70-09D2-46B3-321C55AAE973}"/>
              </a:ext>
            </a:extLst>
          </p:cNvPr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If you start paying, you have to stay on top of costs.  They can balloon quickly.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72729F0-ED7E-5EE0-8608-261362D6D009}"/>
              </a:ext>
            </a:extLst>
          </p:cNvPr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B3DD3A0-C49D-5A38-1B73-79CD3B867CC8}"/>
              </a:ext>
            </a:extLst>
          </p:cNvPr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“All these chatbots are a strategy to get you locked in long term” (Nate B. Jones)</a:t>
            </a:r>
            <a:endParaRPr lang="en-US" sz="18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57C9F07-3FBC-6097-D030-E219345DCF27}"/>
              </a:ext>
            </a:extLst>
          </p:cNvPr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61DE9BA-9089-4F24-4A07-51B1C1F51937}"/>
              </a:ext>
            </a:extLst>
          </p:cNvPr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26237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416E4F-F7B0-3365-4F34-930357A64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EFD1AD2-8817-6B00-55AE-AFB110166E60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1293A5-D60A-A77C-74A6-35587A7D3634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 is Which? (More Versions as of 4/8/2026)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6433EB1-274F-3BCD-554C-A62C79EEEA1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CC9ECC-451D-C085-4BF1-0C4C3E5D652F}"/>
              </a:ext>
            </a:extLst>
          </p:cNvPr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pmc1 is Gemini-based.</a:t>
            </a:r>
          </a:p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pmc2 is Claude-based.</a:t>
            </a:r>
          </a:p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pmc3 is ChatGPT-based.</a:t>
            </a:r>
          </a:p>
          <a:p>
            <a:pPr>
              <a:spcAft>
                <a:spcPts val="700"/>
              </a:spcAft>
            </a:pPr>
            <a:endParaRPr lang="en-US" sz="32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700"/>
              </a:spcAft>
            </a:pPr>
            <a:endParaRPr lang="en-US" sz="3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1EB98EE-CC60-40BE-D2C1-40334C8C182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CD30E-BC28-4894-1F4F-0546BAB9FED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ADCFC"/>
                </a:solidFill>
              </a:rPr>
              <a:t>Try it live:</a:t>
            </a:r>
            <a:endParaRPr lang="en-US" sz="2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/>
            <a:r>
              <a:rPr lang="en-US" sz="2800" b="1" dirty="0">
                <a:solidFill>
                  <a:srgbClr val="C9A84C"/>
                </a:solidFill>
              </a:rPr>
              <a:t>https://psd1.net/pmc1</a:t>
            </a:r>
            <a:endParaRPr lang="en-US" sz="2000" dirty="0"/>
          </a:p>
          <a:p>
            <a:pPr algn="ctr"/>
            <a:r>
              <a:rPr lang="en-US" sz="2800" b="1" dirty="0">
                <a:solidFill>
                  <a:srgbClr val="C9A84C"/>
                </a:solidFill>
              </a:rPr>
              <a:t>https://psd1.net/pmc2</a:t>
            </a:r>
            <a:endParaRPr lang="en-US" sz="20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</a:rPr>
              <a:t>https://psd1.net/pmc3 </a:t>
            </a:r>
            <a:endParaRPr lang="en-US" sz="2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</a:rPr>
              <a:t>Ask it anything about the</a:t>
            </a:r>
            <a:endParaRPr lang="en-US" sz="2000" dirty="0"/>
          </a:p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</a:rPr>
              <a:t>Pasco Municipal Code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350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Flash queries typically cost $0.07-$0.15*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*See Appendix Slides for Breakdown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$0.11</a:t>
            </a:r>
            <a:endParaRPr lang="en-US" sz="4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&amp; ???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56F0D7-F9AB-53A4-631A-27BF00127D83}"/>
              </a:ext>
            </a:extLst>
          </p:cNvPr>
          <p:cNvSpPr/>
          <p:nvPr/>
        </p:nvSpPr>
        <p:spPr>
          <a:xfrm>
            <a:off x="515398" y="5012234"/>
            <a:ext cx="8435193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8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NOTE:  I have since walked back </a:t>
            </a:r>
          </a:p>
          <a:p>
            <a:pPr algn="ctr"/>
            <a:r>
              <a:rPr lang="en-US" sz="48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explicit caching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Query Costs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Gemini holds document in hot memory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 (lazy — created on first query)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Cache storage: $1.00 per 1M tokens/hour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$0.01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Flash-Lite / cached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$0.10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 2.5 / cached query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$0.99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Pro 2.5 / cached query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Cache storage is the dominant cost: ~$9/day baseline. Recommended for city deployment: Flash model with implicit caching (no storage fee) — estimated $50–100/month at typical staff usage.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$200/mo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Typical(?)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Claude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E3B75-CCF9-925F-DFCB-FB97D858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FF64E-6A4F-CEC4-7F43-6F42860D925B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C70E84-9DDC-92B2-F69C-7D8A5BCF549F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D1E39-FA88-4574-93B4-2E32E51D9AE6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58F285-8D29-CFAA-4CCD-3687707E254F}"/>
              </a:ext>
            </a:extLst>
          </p:cNvPr>
          <p:cNvSpPr/>
          <p:nvPr/>
        </p:nvSpPr>
        <p:spPr>
          <a:xfrm>
            <a:off x="919409" y="2967335"/>
            <a:ext cx="7305205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Gemini?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(What happened on 4/8)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63193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3C595-4059-C2E2-6D5D-D5EB0FB9C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10" y="1518971"/>
            <a:ext cx="755437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51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E0C1DB-4EAD-6A6E-6B9E-8020202D6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36" y="461548"/>
            <a:ext cx="7535327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1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505F14-8EBD-1334-9C17-9DAB75B36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0" y="2576393"/>
            <a:ext cx="752580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36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BCA751-E8A4-5FF0-4BFB-5D88A0881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63" y="2042919"/>
            <a:ext cx="7516274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72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E265AB-1E2E-34B5-EB6B-77935FD7E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36" y="1747603"/>
            <a:ext cx="7535327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818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6B371C-639A-28B4-E1F6-7B62B2BE0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337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944570-433C-AC75-3F0A-DAA7DE622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560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C67EC4-C693-66DC-170B-D0C140159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6397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DA8506-521E-07F4-6620-CDBB298B6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204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2B84B-FA4E-BDFA-C219-039A0C91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1030CC-B95D-CA2F-E42D-FDCBD4544688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5666B5-E130-EB60-C10E-A1D670675D75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8597C6B-B620-1D90-5F3A-6077BD4DEB8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1000D71-F914-9417-0188-901685256032}"/>
              </a:ext>
            </a:extLst>
          </p:cNvPr>
          <p:cNvSpPr/>
          <p:nvPr/>
        </p:nvSpPr>
        <p:spPr>
          <a:xfrm>
            <a:off x="1084229" y="2967335"/>
            <a:ext cx="697556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Claude?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(Is Gemini really best?)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53891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AB10B9-080C-BCB7-C874-1FC86387B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918812"/>
            <a:ext cx="7535327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5471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9AC412-82CA-2ED4-8815-BA0A162A0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604708"/>
            <a:ext cx="7554379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66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676E3E-344D-065F-AC22-C09C6F5E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099812"/>
            <a:ext cx="7535327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8352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FE1DCA-D3C9-A2F2-9EC2-2BB1DA1A7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337706"/>
            <a:ext cx="751627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69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E6871B-935D-6BD5-0811-AEDD39D1F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204337"/>
            <a:ext cx="7535327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63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17CBBC-1637-A20A-73FE-576A40DA7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E5F02F9A-6146-8391-A478-41BDE9904E98}"/>
              </a:ext>
            </a:extLst>
          </p:cNvPr>
          <p:cNvSpPr/>
          <p:nvPr/>
        </p:nvSpPr>
        <p:spPr>
          <a:xfrm>
            <a:off x="6874013" y="2194928"/>
            <a:ext cx="2806015" cy="2156353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Watch the burn!</a:t>
            </a:r>
          </a:p>
        </p:txBody>
      </p:sp>
    </p:spTree>
    <p:extLst>
      <p:ext uri="{BB962C8B-B14F-4D97-AF65-F5344CB8AC3E}">
        <p14:creationId xmlns:p14="http://schemas.microsoft.com/office/powerpoint/2010/main" val="1794909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681A5B-1366-7A60-D880-BC5F7EDD1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E5B1A58F-2DBD-C14E-7903-D05B45E16A2D}"/>
              </a:ext>
            </a:extLst>
          </p:cNvPr>
          <p:cNvSpPr/>
          <p:nvPr/>
        </p:nvSpPr>
        <p:spPr>
          <a:xfrm>
            <a:off x="6874013" y="2194928"/>
            <a:ext cx="2806015" cy="2156353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That’s Better!</a:t>
            </a:r>
          </a:p>
        </p:txBody>
      </p:sp>
    </p:spTree>
    <p:extLst>
      <p:ext uri="{BB962C8B-B14F-4D97-AF65-F5344CB8AC3E}">
        <p14:creationId xmlns:p14="http://schemas.microsoft.com/office/powerpoint/2010/main" val="18136280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6B3686-7CC8-D947-DE35-AA2DDC945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6" name="Explosion: 14 Points 5">
            <a:extLst>
              <a:ext uri="{FF2B5EF4-FFF2-40B4-BE49-F238E27FC236}">
                <a16:creationId xmlns:a16="http://schemas.microsoft.com/office/drawing/2014/main" id="{9CCB19FC-4344-E71D-FB1E-0463A5181C98}"/>
              </a:ext>
            </a:extLst>
          </p:cNvPr>
          <p:cNvSpPr/>
          <p:nvPr/>
        </p:nvSpPr>
        <p:spPr>
          <a:xfrm>
            <a:off x="7401138" y="2377809"/>
            <a:ext cx="1742862" cy="1473430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Ruh-Roh!</a:t>
            </a:r>
          </a:p>
        </p:txBody>
      </p:sp>
    </p:spTree>
    <p:extLst>
      <p:ext uri="{BB962C8B-B14F-4D97-AF65-F5344CB8AC3E}">
        <p14:creationId xmlns:p14="http://schemas.microsoft.com/office/powerpoint/2010/main" val="11948836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BBC48B-7159-82AA-D98C-F5466301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00F427-41DA-880B-405B-409954CF0BA6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99253D-D28E-5DF0-402E-9E66DF19EA41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36075-5450-36E9-DF18-D784AE7EE67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EA0C88-66A4-2D63-C556-88A1C892CA37}"/>
              </a:ext>
            </a:extLst>
          </p:cNvPr>
          <p:cNvSpPr/>
          <p:nvPr/>
        </p:nvSpPr>
        <p:spPr>
          <a:xfrm>
            <a:off x="1017116" y="2191522"/>
            <a:ext cx="7109767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ChatGPT?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(It’s the best?  Isn’t it?)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53298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6E788D-8935-99EE-B717-9828DB194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162" y="643467"/>
            <a:ext cx="664967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219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05E77-9C7D-2378-27E9-E780DDF61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43" y="1123527"/>
            <a:ext cx="6675908" cy="4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4661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3DF2C4-6F38-E59B-4848-216DD2662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E1BD39-DEF8-0E10-CDF7-066971840725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C523FB8-14C9-9D6A-1C15-02598C3C7E72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0D967DC-4F6B-342F-6E89-548A6D21849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7B78396-C3CC-69D5-AC01-4EFCDF360BFA}"/>
              </a:ext>
            </a:extLst>
          </p:cNvPr>
          <p:cNvSpPr/>
          <p:nvPr/>
        </p:nvSpPr>
        <p:spPr>
          <a:xfrm>
            <a:off x="235086" y="2191522"/>
            <a:ext cx="8673849" cy="34163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Ask a Question</a:t>
            </a:r>
          </a:p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Any Language</a:t>
            </a:r>
          </a:p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Response is in Same Language</a:t>
            </a:r>
          </a:p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Even Complicated Questions</a:t>
            </a:r>
          </a:p>
        </p:txBody>
      </p:sp>
    </p:spTree>
    <p:extLst>
      <p:ext uri="{BB962C8B-B14F-4D97-AF65-F5344CB8AC3E}">
        <p14:creationId xmlns:p14="http://schemas.microsoft.com/office/powerpoint/2010/main" val="501027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769A60B6-1F84-7DA2-AB2F-4B3FE9A95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9144000" cy="15262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7549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hlinkClick r:id="rId2"/>
            <a:extLst>
              <a:ext uri="{FF2B5EF4-FFF2-40B4-BE49-F238E27FC236}">
                <a16:creationId xmlns:a16="http://schemas.microsoft.com/office/drawing/2014/main" id="{D9726C10-2449-153D-760D-B5FD3FF76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3999" cy="1628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7274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D74945C7-F9E8-A55B-5CB5-DEFC90D78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295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4710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1E4FE2-A0F9-7D40-507B-C62D69F39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1E5E1-1D7D-2569-FE0E-825EF5F67454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5E9401-EFCC-6842-D099-BF1A93844343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E4A5AC7-98DA-2871-D407-968A68C80FE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94F2D0-4E37-9E90-016D-0C0F373C5075}"/>
              </a:ext>
            </a:extLst>
          </p:cNvPr>
          <p:cNvSpPr/>
          <p:nvPr/>
        </p:nvSpPr>
        <p:spPr>
          <a:xfrm>
            <a:off x="847011" y="2191522"/>
            <a:ext cx="7449989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Backstory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“Design a Bus Stop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Civil Engineering Project”</a:t>
            </a:r>
          </a:p>
        </p:txBody>
      </p:sp>
    </p:spTree>
    <p:extLst>
      <p:ext uri="{BB962C8B-B14F-4D97-AF65-F5344CB8AC3E}">
        <p14:creationId xmlns:p14="http://schemas.microsoft.com/office/powerpoint/2010/main" val="22201473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E3B32BC7-20A6-82CF-A83E-E0606F8C7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4212" y="0"/>
            <a:ext cx="6395575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F5B962-99CE-C1F8-3C68-865D092824F7}"/>
              </a:ext>
            </a:extLst>
          </p:cNvPr>
          <p:cNvSpPr/>
          <p:nvPr/>
        </p:nvSpPr>
        <p:spPr>
          <a:xfrm rot="16200000">
            <a:off x="-769184" y="2674998"/>
            <a:ext cx="26945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Proposal</a:t>
            </a:r>
          </a:p>
        </p:txBody>
      </p:sp>
    </p:spTree>
    <p:extLst>
      <p:ext uri="{BB962C8B-B14F-4D97-AF65-F5344CB8AC3E}">
        <p14:creationId xmlns:p14="http://schemas.microsoft.com/office/powerpoint/2010/main" val="4142309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6F0ADF-B594-E3AF-52B7-CB25AB473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195936C-6A2A-1E2E-6CCB-3EA9A7F4C517}"/>
              </a:ext>
            </a:extLst>
          </p:cNvPr>
          <p:cNvSpPr/>
          <p:nvPr/>
        </p:nvSpPr>
        <p:spPr>
          <a:xfrm>
            <a:off x="-37706" y="1902569"/>
            <a:ext cx="563487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AI-Enhanced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 Engineering Coach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782C5D-2761-773A-CE7F-029291E2D8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9464" y="1721096"/>
            <a:ext cx="3486637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094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29D759-F709-7CEA-4E2C-8D89C44A2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094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151</TotalTime>
  <Words>1048</Words>
  <Application>Microsoft Office PowerPoint</Application>
  <PresentationFormat>On-screen Show (4:3)</PresentationFormat>
  <Paragraphs>208</Paragraphs>
  <Slides>42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Calibri Light</vt:lpstr>
      <vt:lpstr>Courier New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C. Weisenfeld</cp:lastModifiedBy>
  <cp:revision>16</cp:revision>
  <dcterms:created xsi:type="dcterms:W3CDTF">2026-04-08T16:45:41Z</dcterms:created>
  <dcterms:modified xsi:type="dcterms:W3CDTF">2026-04-10T10:48:26Z</dcterms:modified>
</cp:coreProperties>
</file>
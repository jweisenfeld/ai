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37"/>
  </p:notesMasterIdLst>
  <p:sldIdLst>
    <p:sldId id="256" r:id="rId2"/>
    <p:sldId id="285" r:id="rId3"/>
    <p:sldId id="277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6" r:id="rId13"/>
    <p:sldId id="265" r:id="rId14"/>
    <p:sldId id="267" r:id="rId15"/>
    <p:sldId id="268" r:id="rId16"/>
    <p:sldId id="269" r:id="rId17"/>
    <p:sldId id="270" r:id="rId18"/>
    <p:sldId id="281" r:id="rId19"/>
    <p:sldId id="282" r:id="rId20"/>
    <p:sldId id="283" r:id="rId21"/>
    <p:sldId id="284" r:id="rId22"/>
    <p:sldId id="271" r:id="rId23"/>
    <p:sldId id="272" r:id="rId24"/>
    <p:sldId id="273" r:id="rId25"/>
    <p:sldId id="274" r:id="rId26"/>
    <p:sldId id="275" r:id="rId27"/>
    <p:sldId id="276" r:id="rId28"/>
    <p:sldId id="286" r:id="rId29"/>
    <p:sldId id="287" r:id="rId30"/>
    <p:sldId id="288" r:id="rId31"/>
    <p:sldId id="278" r:id="rId32"/>
    <p:sldId id="279" r:id="rId33"/>
    <p:sldId id="280" r:id="rId34"/>
    <p:sldId id="290" r:id="rId35"/>
    <p:sldId id="291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84EEA54-6324-4A09-B3FB-F92E4D0848D3}">
          <p14:sldIdLst>
            <p14:sldId id="256"/>
            <p14:sldId id="285"/>
            <p14:sldId id="277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Gemini" id="{E6EEA790-E718-4AFB-A3A4-106361C29AF3}">
          <p14:sldIdLst>
            <p14:sldId id="266"/>
            <p14:sldId id="265"/>
            <p14:sldId id="267"/>
            <p14:sldId id="268"/>
            <p14:sldId id="269"/>
            <p14:sldId id="270"/>
            <p14:sldId id="281"/>
            <p14:sldId id="282"/>
            <p14:sldId id="283"/>
            <p14:sldId id="284"/>
          </p14:sldIdLst>
        </p14:section>
        <p14:section name="Claude" id="{4F6BE9A9-D516-47BB-8FBB-EDDB5119DFC2}">
          <p14:sldIdLst>
            <p14:sldId id="271"/>
            <p14:sldId id="272"/>
            <p14:sldId id="273"/>
            <p14:sldId id="274"/>
            <p14:sldId id="275"/>
            <p14:sldId id="276"/>
            <p14:sldId id="286"/>
            <p14:sldId id="287"/>
            <p14:sldId id="288"/>
          </p14:sldIdLst>
        </p14:section>
        <p14:section name="ChatGPT" id="{45F2D83A-D2E5-4AC9-85EF-C421A41CBE90}">
          <p14:sldIdLst>
            <p14:sldId id="278"/>
            <p14:sldId id="279"/>
            <p14:sldId id="280"/>
          </p14:sldIdLst>
        </p14:section>
        <p14:section name="Backstory" id="{3B61981A-34B7-4122-AB31-B71C3C9B6127}">
          <p14:sldIdLst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9" autoAdjust="0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29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86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E7818-7983-9C71-56E0-26E17CF8D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9B40D0-0605-C5AC-4B89-528BD7D02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273A1-66FE-1F7F-476C-4AF080C98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963770-C410-CB91-C2C7-0472C04CCB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8859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44880-5395-564F-D047-1BA3F7A13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980B7B-3F36-7914-7B69-131C1CC09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C65EA-BE0F-8FB9-DC56-E76E23DE5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92029-E089-D96F-6CD3-C6DD53F8C9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441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E049-E296-E330-DCB9-FD8D1B850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995B04-8784-2643-4F46-0B178A885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044592-F4ED-46CA-3304-75941E8FC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88F99-D018-0692-F84B-032CC6C25C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3717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 asked Claude to corroborate the logs of Gemini usage with the Gemini daily costs.</a:t>
            </a:r>
          </a:p>
        </p:txBody>
      </p:sp>
    </p:spTree>
    <p:extLst>
      <p:ext uri="{BB962C8B-B14F-4D97-AF65-F5344CB8AC3E}">
        <p14:creationId xmlns:p14="http://schemas.microsoft.com/office/powerpoint/2010/main" val="291477351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Total costs has two components, caching and inference (queries).</a:t>
            </a:r>
          </a:p>
        </p:txBody>
      </p:sp>
    </p:spTree>
    <p:extLst>
      <p:ext uri="{BB962C8B-B14F-4D97-AF65-F5344CB8AC3E}">
        <p14:creationId xmlns:p14="http://schemas.microsoft.com/office/powerpoint/2010/main" val="5862690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Caching is a large cost.  You need to ask yourself, what caching gets you?  Faster responses?  Better responses?</a:t>
            </a:r>
          </a:p>
        </p:txBody>
      </p:sp>
    </p:spTree>
    <p:extLst>
      <p:ext uri="{BB962C8B-B14F-4D97-AF65-F5344CB8AC3E}">
        <p14:creationId xmlns:p14="http://schemas.microsoft.com/office/powerpoint/2010/main" val="38260551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 made this change on Wednesday 4/8/2026 to remove Explicit caching.  Making a cache in the cloud has too many failure modes, and I deemed not enough payoff.</a:t>
            </a:r>
          </a:p>
        </p:txBody>
      </p:sp>
    </p:spTree>
    <p:extLst>
      <p:ext uri="{BB962C8B-B14F-4D97-AF65-F5344CB8AC3E}">
        <p14:creationId xmlns:p14="http://schemas.microsoft.com/office/powerpoint/2010/main" val="35439045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This change happened on 4/8/2026.</a:t>
            </a:r>
          </a:p>
        </p:txBody>
      </p:sp>
    </p:spTree>
    <p:extLst>
      <p:ext uri="{BB962C8B-B14F-4D97-AF65-F5344CB8AC3E}">
        <p14:creationId xmlns:p14="http://schemas.microsoft.com/office/powerpoint/2010/main" val="34969975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362A-3954-9CE8-782D-6C4F76FFA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EA3842-8A06-B572-98D0-60C9E44323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6F19C6-748A-905E-79DE-EA373DD14D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5C14A-4972-4A9C-CC65-D61FD8E1994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8078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3CDC3-960B-DC8A-1E0E-941727EC6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D17D75-E61A-FDCD-1B4B-767AE8675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63371D-8E36-5DFC-3E9B-DF8DA8141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78724-5C29-33B6-A830-6A96A13890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3880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65172-E539-008D-6577-B8FAD5CE8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6A086B-D0AB-FC2E-C61D-876AC3816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3ECFD3-9E6D-3816-BFD2-807AE26813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2F497-8C40-A109-FC43-DA1A123555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5172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182754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4476070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30615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792155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718781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787942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0585001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01132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68597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35252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819816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6454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9508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psd1.net/PMC-AI-Technical-Overview.pptx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Pasco Municipal Code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Reference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Overview for City of Pasco IT</a:t>
            </a:r>
          </a:p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  <a:hlinkClick r:id="rId3"/>
              </a:rPr>
              <a:t>https://psd1.net/PMC-AI-Technical-Overview.pptx</a:t>
            </a: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Weisenfeld  ·  Physics Teacher, Orion High School  ·  April 10,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0" y="6126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http://orionhs.us/pmc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A5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FB7B71-0F6D-817C-A11E-7992059DE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52831D-8EDE-B107-400D-3080A659C9C3}"/>
              </a:ext>
            </a:extLst>
          </p:cNvPr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John’s Observations </a:t>
            </a:r>
          </a:p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(If You Only Read One Slide)</a:t>
            </a:r>
            <a:endParaRPr lang="en-US" sz="3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50851A7-98C6-7E5C-E6D6-C3BF88E3F231}"/>
              </a:ext>
            </a:extLst>
          </p:cNvPr>
          <p:cNvSpPr/>
          <p:nvPr/>
        </p:nvSpPr>
        <p:spPr>
          <a:xfrm>
            <a:off x="457200" y="1371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F6D1636-F594-C78A-B06D-E82ED98460C6}"/>
              </a:ext>
            </a:extLst>
          </p:cNvPr>
          <p:cNvSpPr/>
          <p:nvPr/>
        </p:nvSpPr>
        <p:spPr>
          <a:xfrm>
            <a:off x="1051560" y="13716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Not all AI are created equal.</a:t>
            </a:r>
            <a:endParaRPr lang="en-US" sz="18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BCAD0C1-13B2-33BF-B2B4-FC5F33BD4D32}"/>
              </a:ext>
            </a:extLst>
          </p:cNvPr>
          <p:cNvSpPr/>
          <p:nvPr/>
        </p:nvSpPr>
        <p:spPr>
          <a:xfrm>
            <a:off x="457200" y="2331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66C078A-E4B3-D560-D5DF-FA05516D5D14}"/>
              </a:ext>
            </a:extLst>
          </p:cNvPr>
          <p:cNvSpPr/>
          <p:nvPr/>
        </p:nvSpPr>
        <p:spPr>
          <a:xfrm>
            <a:off x="1051560" y="2331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have to pay something to get access to “best” models.</a:t>
            </a:r>
            <a:endParaRPr lang="en-US" sz="1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B0F6C50-769C-9574-942C-FE5F78B0205A}"/>
              </a:ext>
            </a:extLst>
          </p:cNvPr>
          <p:cNvSpPr/>
          <p:nvPr/>
        </p:nvSpPr>
        <p:spPr>
          <a:xfrm>
            <a:off x="457200" y="32918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01053BB-3E70-09D2-46B3-321C55AAE973}"/>
              </a:ext>
            </a:extLst>
          </p:cNvPr>
          <p:cNvSpPr/>
          <p:nvPr/>
        </p:nvSpPr>
        <p:spPr>
          <a:xfrm>
            <a:off x="105156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If you start paying, you have to stay on top of costs.  They can balloon quickly.</a:t>
            </a:r>
            <a:endParaRPr lang="en-US" sz="1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72729F0-ED7E-5EE0-8608-261362D6D009}"/>
              </a:ext>
            </a:extLst>
          </p:cNvPr>
          <p:cNvSpPr/>
          <p:nvPr/>
        </p:nvSpPr>
        <p:spPr>
          <a:xfrm>
            <a:off x="457200" y="42519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B3DD3A0-C49D-5A38-1B73-79CD3B867CC8}"/>
              </a:ext>
            </a:extLst>
          </p:cNvPr>
          <p:cNvSpPr/>
          <p:nvPr/>
        </p:nvSpPr>
        <p:spPr>
          <a:xfrm>
            <a:off x="1051560" y="4251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“All these chatbots are a strategy to get you locked in long term” (Nate B. Jones)</a:t>
            </a:r>
            <a:endParaRPr lang="en-US" sz="18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57C9F07-3FBC-6097-D030-E219345DCF27}"/>
              </a:ext>
            </a:extLst>
          </p:cNvPr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solidFill>
            <a:srgbClr val="2A4D7A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61DE9BA-9089-4F24-4A07-51B1C1F51937}"/>
              </a:ext>
            </a:extLst>
          </p:cNvPr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John Weisenfeld  ·  jweisenfeld@psd1.org     </a:t>
            </a:r>
            <a:r>
              <a:rPr lang="en-US" sz="14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26237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416E4F-F7B0-3365-4F34-930357A64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EFD1AD2-8817-6B00-55AE-AFB110166E60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11293A5-D60A-A77C-74A6-35587A7D3634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Tool is Which? (More Versions as of 4/8/2026)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6433EB1-274F-3BCD-554C-A62C79EEEA11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1CC9ECC-451D-C085-4BF1-0C4C3E5D652F}"/>
              </a:ext>
            </a:extLst>
          </p:cNvPr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32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pmc1 is Gemini-based.</a:t>
            </a:r>
          </a:p>
          <a:p>
            <a:pPr>
              <a:spcAft>
                <a:spcPts val="700"/>
              </a:spcAft>
            </a:pPr>
            <a:r>
              <a:rPr lang="en-US" sz="32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pmc2 is Claude-based.</a:t>
            </a:r>
          </a:p>
          <a:p>
            <a:pPr>
              <a:spcAft>
                <a:spcPts val="700"/>
              </a:spcAft>
            </a:pPr>
            <a:r>
              <a:rPr lang="en-US" sz="32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pmc3 is ChatGPT-based.</a:t>
            </a:r>
          </a:p>
          <a:p>
            <a:pPr>
              <a:spcAft>
                <a:spcPts val="700"/>
              </a:spcAft>
            </a:pPr>
            <a:endParaRPr lang="en-US" sz="32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700"/>
              </a:spcAft>
            </a:pPr>
            <a:endParaRPr lang="en-US" sz="3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1EB98EE-CC60-40BE-D2C1-40334C8C182A}"/>
              </a:ext>
            </a:extLst>
          </p:cNvPr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60CD30E-BC28-4894-1F4F-0546BAB9FEDA}"/>
              </a:ext>
            </a:extLst>
          </p:cNvPr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CADCFC"/>
                </a:solidFill>
              </a:rPr>
              <a:t>Try it live:</a:t>
            </a:r>
            <a:endParaRPr lang="en-US" sz="20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algn="ctr"/>
            <a:r>
              <a:rPr lang="en-US" sz="2800" b="1" dirty="0">
                <a:solidFill>
                  <a:srgbClr val="C9A84C"/>
                </a:solidFill>
              </a:rPr>
              <a:t>https://psd1.net/pmc1</a:t>
            </a:r>
            <a:endParaRPr lang="en-US" sz="2000" dirty="0"/>
          </a:p>
          <a:p>
            <a:pPr algn="ctr"/>
            <a:r>
              <a:rPr lang="en-US" sz="2800" b="1" dirty="0">
                <a:solidFill>
                  <a:srgbClr val="C9A84C"/>
                </a:solidFill>
              </a:rPr>
              <a:t>https://psd1.net/pmc2</a:t>
            </a:r>
            <a:endParaRPr lang="en-US" sz="20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C9A84C"/>
                </a:solidFill>
              </a:rPr>
              <a:t>https://psd1.net/pmc3 </a:t>
            </a:r>
            <a:endParaRPr lang="en-US" sz="20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000000"/>
                </a:solidFill>
              </a:rPr>
              <a:t>
</a:t>
            </a:r>
            <a:endParaRPr lang="en-US" sz="2000" dirty="0"/>
          </a:p>
          <a:p>
            <a:pPr marL="0" indent="0" algn="ctr">
              <a:buNone/>
            </a:pPr>
            <a:r>
              <a:rPr lang="en-US" i="1" dirty="0">
                <a:solidFill>
                  <a:srgbClr val="FFFFFF"/>
                </a:solidFill>
              </a:rPr>
              <a:t>Ask it anything about the</a:t>
            </a:r>
            <a:endParaRPr lang="en-US" sz="2000" dirty="0"/>
          </a:p>
          <a:p>
            <a:pPr marL="0" indent="0" algn="ctr">
              <a:buNone/>
            </a:pPr>
            <a:r>
              <a:rPr lang="en-US" i="1" dirty="0">
                <a:solidFill>
                  <a:srgbClr val="FFFFFF"/>
                </a:solidFill>
              </a:rPr>
              <a:t>Pasco Municipal Code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4350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Share Freely (The Original, Gemini)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6126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Public tool — no login required. Share freely: http://orionhs.us/pmc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Hosted on psd1.net (cPanel server)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Capacity: dozens of concurrent users without issue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Flash queries typically cost $0.07-$0.15*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data collected — all sessions are anonymous</a:t>
            </a: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*See Appendix Slides for Breakdown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$0.11</a:t>
            </a:r>
            <a:endParaRPr lang="en-US" sz="48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per typical query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Tool Does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Natural language questions about the PMC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Cites exact section numbers (§X.XX.XXX)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Cross-references related titles &amp; chapters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Flags gaps, conflicts, and ambiguities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English &amp; Spanish &amp; ??? — auto-detected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Multiple Google Gemini models available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</a:rPr>
              <a:t>Try it live: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Ask it anything about the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Pasco Municipal Code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PMC Document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~938,000 tokens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Uploaded once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Gemini Files API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Explicit Cache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12-hour TTL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User Query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Full context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Streamed response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3464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94360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4160520"/>
            <a:ext cx="8503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PHP backend proxy keeps API key secure — never exposed to the browser</a:t>
            </a:r>
            <a:endParaRPr lang="en-US" sz="1400" dirty="0"/>
          </a:p>
          <a:p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Server-Sent Events (SSE) deliver streaming responses in real time</a:t>
            </a:r>
            <a:endParaRPr lang="en-US" sz="1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56F0D7-F9AB-53A4-631A-27BF00127D83}"/>
              </a:ext>
            </a:extLst>
          </p:cNvPr>
          <p:cNvSpPr/>
          <p:nvPr/>
        </p:nvSpPr>
        <p:spPr>
          <a:xfrm>
            <a:off x="515398" y="5012234"/>
            <a:ext cx="8435193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8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NOTE:  I have since walked back </a:t>
            </a:r>
          </a:p>
          <a:p>
            <a:pPr algn="ctr"/>
            <a:r>
              <a:rPr lang="en-US" sz="48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explicit caching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Structure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0" y="118872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Chat UI — single file, ~700 lines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801368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8470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api-proxy.php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84708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Server-side proxy; streaming, caching, logging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45973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2505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cache-create.php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25054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Uploads PMC to Gemini Files API (daily cron)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118104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1638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cache-ping.php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316382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Keeps Files API URI alive every 23 hours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7647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38221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strip-html.php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382219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HTML → clean text (~60% size reduction)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4434840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4480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PMC-clean.txt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83280" y="44805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Clean document — 3.75 MB, ~938k tokens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50932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51389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gemini_usage.log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83280" y="513892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Per-query token &amp; cache usage log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5751576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11480" y="579729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query_logs/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0" y="579729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Anonymized monthly query logs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Query Costs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1 — Files API</a:t>
            </a:r>
            <a:endParaRPr lang="en-US" sz="18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FFFFFF"/>
                </a:solidFill>
              </a:rPr>
              <a:t> </a:t>
            </a:r>
            <a:endParaRPr lang="en-US" sz="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Document uploaded once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48 hours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Refreshed nightly by cron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2 — Context Cache</a:t>
            </a:r>
            <a:endParaRPr lang="en-US" sz="18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FFFFFF"/>
                </a:solidFill>
              </a:rPr>
              <a:t> </a:t>
            </a:r>
            <a:endParaRPr lang="en-US" sz="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Gemini holds document in hot memory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12 hours (lazy — created on first query)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Cache storage: $1.00 per 1M tokens/hour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$0.01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Flash-Lite / cached query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766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766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$0.10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 2.5 / cached query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960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$0.99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Pro 2.5 / cached query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30160"/>
            <a:ext cx="8229600" cy="1143000"/>
          </a:xfrm>
          <a:prstGeom prst="rect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5030160"/>
            <a:ext cx="8229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Cache storage is the dominant cost: ~$9/day baseline. Recommended for city deployment: Flash model with implicit caching (no storage fee) — estimated $50–100/month at typical staff usage.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Replicating for Any City Department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Any Document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Zoning, HR, Budgets, Permits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Own Folder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Isolated deployment per dept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Custom System Prompt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Defines AI expertise &amp; tone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2–4 Hours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Estimated setup per department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Shared API Key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Or each dept provisions their own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Under $20/mo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Typical city staff usage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" y="62636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code is open source and sharable — no licensing or vendor lock-in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You'd Need to Self-Host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3232" y="1325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 server with PHP 7.4+ and cURL (Linux cPanel or equivalent)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13232" y="2468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Google Gemini API key (free at aistudio.google.com, usage-billed)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611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 document in text or HTML format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13232" y="4754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Cron job scheduler (standard on any Linux server)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21808" y="1325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database required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21808" y="2468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authentication required (optional)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21808" y="3611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Docker or containers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21808" y="4754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special hardware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754880" y="1188720"/>
            <a:ext cx="0" cy="5303520"/>
          </a:xfrm>
          <a:prstGeom prst="line">
            <a:avLst/>
          </a:prstGeom>
          <a:noFill/>
          <a:ln w="19050">
            <a:solidFill>
              <a:srgbClr val="C9A84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Claude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)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1560" y="13716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Share the live tool with planners and department heads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Schedule a 30-minute call to walk through the source code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5156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Identify one city department as a pilot deployment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51560" y="4251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shares all source code — no strings attached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solidFill>
            <a:srgbClr val="2A4D7A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John Weisenfeld  ·  jweisenfeld@psd1.org     </a:t>
            </a:r>
            <a:r>
              <a:rPr lang="en-US" sz="14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6E3B75-CCF9-925F-DFCB-FB97D858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3FF64E-6A4F-CEC4-7F43-6F42860D925B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C70E84-9DDC-92B2-F69C-7D8A5BCF549F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72D1E39-FA88-4574-93B4-2E32E51D9AE6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F58F285-8D29-CFAA-4CCD-3687707E254F}"/>
              </a:ext>
            </a:extLst>
          </p:cNvPr>
          <p:cNvSpPr/>
          <p:nvPr/>
        </p:nvSpPr>
        <p:spPr>
          <a:xfrm>
            <a:off x="919409" y="2967335"/>
            <a:ext cx="7305205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Gemini?</a:t>
            </a:r>
          </a:p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(What happened on 4/8)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631936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83C595-4059-C2E2-6D5D-D5EB0FB9C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810" y="1518971"/>
            <a:ext cx="7554379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251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E0C1DB-4EAD-6A6E-6B9E-8020202D6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336" y="461548"/>
            <a:ext cx="7535327" cy="593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019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505F14-8EBD-1334-9C17-9DAB75B362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00" y="2576393"/>
            <a:ext cx="7525800" cy="170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936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BCA751-E8A4-5FF0-4BFB-5D88A0881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63" y="2042919"/>
            <a:ext cx="7516274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7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E265AB-1E2E-34B5-EB6B-77935FD7E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336" y="1747603"/>
            <a:ext cx="7535327" cy="3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8188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6B371C-639A-28B4-E1F6-7B62B2BE0C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337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944570-433C-AC75-3F0A-DAA7DE622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5601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C67EC4-C693-66DC-170B-D0C140159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6397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DA8506-521E-07F4-6620-CDBB298B62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7204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12B84B-FA4E-BDFA-C219-039A0C91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A1030CC-B95D-CA2F-E42D-FDCBD4544688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05666B5-E130-EB60-C10E-A1D670675D75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8597C6B-B620-1D90-5F3A-6077BD4DEB8C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1000D71-F914-9417-0188-901685256032}"/>
              </a:ext>
            </a:extLst>
          </p:cNvPr>
          <p:cNvSpPr/>
          <p:nvPr/>
        </p:nvSpPr>
        <p:spPr>
          <a:xfrm>
            <a:off x="1084229" y="2967335"/>
            <a:ext cx="6975564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Claude?</a:t>
            </a:r>
          </a:p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(Is Gemini really best?)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538919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1AB10B9-080C-BCB7-C874-1FC86387B4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918812"/>
            <a:ext cx="7535327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5471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9AC412-82CA-2ED4-8815-BA0A162A00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810" y="1604708"/>
            <a:ext cx="7554379" cy="3648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66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676E3E-344D-065F-AC22-C09C6F5EB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1099812"/>
            <a:ext cx="7535327" cy="465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8352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FE1DCA-D3C9-A2F2-9EC2-2BB1DA1A7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63" y="337706"/>
            <a:ext cx="7516274" cy="618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6960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E6871B-935D-6BD5-0811-AEDD39D1F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204337"/>
            <a:ext cx="7535327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630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17CBBC-1637-A20A-73FE-576A40DA7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E5F02F9A-6146-8391-A478-41BDE9904E98}"/>
              </a:ext>
            </a:extLst>
          </p:cNvPr>
          <p:cNvSpPr/>
          <p:nvPr/>
        </p:nvSpPr>
        <p:spPr>
          <a:xfrm>
            <a:off x="6874013" y="2194928"/>
            <a:ext cx="2806015" cy="2156353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Watch the burn!</a:t>
            </a:r>
          </a:p>
        </p:txBody>
      </p:sp>
    </p:spTree>
    <p:extLst>
      <p:ext uri="{BB962C8B-B14F-4D97-AF65-F5344CB8AC3E}">
        <p14:creationId xmlns:p14="http://schemas.microsoft.com/office/powerpoint/2010/main" val="17949090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681A5B-1366-7A60-D880-BC5F7EDD18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E5B1A58F-2DBD-C14E-7903-D05B45E16A2D}"/>
              </a:ext>
            </a:extLst>
          </p:cNvPr>
          <p:cNvSpPr/>
          <p:nvPr/>
        </p:nvSpPr>
        <p:spPr>
          <a:xfrm>
            <a:off x="6874013" y="2194928"/>
            <a:ext cx="2806015" cy="2156353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That’s Better!</a:t>
            </a:r>
          </a:p>
        </p:txBody>
      </p:sp>
    </p:spTree>
    <p:extLst>
      <p:ext uri="{BB962C8B-B14F-4D97-AF65-F5344CB8AC3E}">
        <p14:creationId xmlns:p14="http://schemas.microsoft.com/office/powerpoint/2010/main" val="18136280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6B3686-7CC8-D947-DE35-AA2DDC945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  <p:sp>
        <p:nvSpPr>
          <p:cNvPr id="6" name="Explosion: 14 Points 5">
            <a:extLst>
              <a:ext uri="{FF2B5EF4-FFF2-40B4-BE49-F238E27FC236}">
                <a16:creationId xmlns:a16="http://schemas.microsoft.com/office/drawing/2014/main" id="{9CCB19FC-4344-E71D-FB1E-0463A5181C98}"/>
              </a:ext>
            </a:extLst>
          </p:cNvPr>
          <p:cNvSpPr/>
          <p:nvPr/>
        </p:nvSpPr>
        <p:spPr>
          <a:xfrm>
            <a:off x="7401138" y="2377809"/>
            <a:ext cx="1742862" cy="1473430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Ruh-Roh!</a:t>
            </a:r>
          </a:p>
        </p:txBody>
      </p:sp>
    </p:spTree>
    <p:extLst>
      <p:ext uri="{BB962C8B-B14F-4D97-AF65-F5344CB8AC3E}">
        <p14:creationId xmlns:p14="http://schemas.microsoft.com/office/powerpoint/2010/main" val="11948836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  <a:lumOff val="3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BBC48B-7159-82AA-D98C-F5466301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00F427-41DA-880B-405B-409954CF0BA6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599253D-D28E-5DF0-402E-9E66DF19EA41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2336075-5450-36E9-DF18-D784AE7EE671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3EA0C88-66A4-2D63-C556-88A1C892CA37}"/>
              </a:ext>
            </a:extLst>
          </p:cNvPr>
          <p:cNvSpPr/>
          <p:nvPr/>
        </p:nvSpPr>
        <p:spPr>
          <a:xfrm>
            <a:off x="1017116" y="2191522"/>
            <a:ext cx="7109767" cy="258532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 </a:t>
            </a:r>
          </a:p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when you use ChatGPT?</a:t>
            </a:r>
          </a:p>
          <a:p>
            <a:pPr algn="ctr"/>
            <a:r>
              <a:rPr lang="en-US" sz="5400" b="1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(It’s the best?  Isn’t it?)</a:t>
            </a:r>
            <a:endParaRPr lang="en-US" sz="54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653298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6E788D-8935-99EE-B717-9828DB194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7162" y="643467"/>
            <a:ext cx="6649674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15219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A05E77-9C7D-2378-27E9-E780DDF61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043" y="1123527"/>
            <a:ext cx="6675908" cy="46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4661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1E4FE2-A0F9-7D40-507B-C62D69F39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7A1E5E1-1D7D-2569-FE0E-825EF5F67454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B5E9401-EFCC-6842-D099-BF1A93844343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E4A5AC7-98DA-2871-D407-968A68C80FEC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994F2D0-4E37-9E90-016D-0C0F373C5075}"/>
              </a:ext>
            </a:extLst>
          </p:cNvPr>
          <p:cNvSpPr/>
          <p:nvPr/>
        </p:nvSpPr>
        <p:spPr>
          <a:xfrm>
            <a:off x="1530946" y="2191522"/>
            <a:ext cx="6082114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Backstory</a:t>
            </a:r>
          </a:p>
          <a:p>
            <a:pPr algn="ctr"/>
            <a:r>
              <a:rPr lang="en-US" sz="5400" b="1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“Engineering Coach”</a:t>
            </a:r>
          </a:p>
        </p:txBody>
      </p:sp>
    </p:spTree>
    <p:extLst>
      <p:ext uri="{BB962C8B-B14F-4D97-AF65-F5344CB8AC3E}">
        <p14:creationId xmlns:p14="http://schemas.microsoft.com/office/powerpoint/2010/main" val="22201473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EEA59B5-97E5-EE7E-12E3-45516910CC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9643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101</TotalTime>
  <Words>977</Words>
  <Application>Microsoft Office PowerPoint</Application>
  <PresentationFormat>On-screen Show (4:3)</PresentationFormat>
  <Paragraphs>196</Paragraphs>
  <Slides>35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Arial</vt:lpstr>
      <vt:lpstr>Calibri</vt:lpstr>
      <vt:lpstr>Calibri Light</vt:lpstr>
      <vt:lpstr>Courier New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Pasco Municipal Code AI Reference — Technical Overview</dc:title>
  <dc:subject>PptxGenJS Presentation</dc:subject>
  <dc:creator>John Weisenfeld</dc:creator>
  <cp:lastModifiedBy>John C. Weisenfeld</cp:lastModifiedBy>
  <cp:revision>13</cp:revision>
  <dcterms:created xsi:type="dcterms:W3CDTF">2026-04-08T16:45:41Z</dcterms:created>
  <dcterms:modified xsi:type="dcterms:W3CDTF">2026-04-10T05:33:36Z</dcterms:modified>
</cp:coreProperties>
</file>
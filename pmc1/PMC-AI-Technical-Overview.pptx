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7" d="100"/>
          <a:sy n="157" d="100"/>
        </p:scale>
        <p:origin x="4452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35868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E049-E296-E330-DCB9-FD8D1B850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995B04-8784-2643-4F46-0B178A8855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044592-F4ED-46CA-3304-75941E8FC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D88F99-D018-0692-F84B-032CC6C25C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3717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A362A-3954-9CE8-782D-6C4F76FFA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EA3842-8A06-B572-98D0-60C9E44323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6F19C6-748A-905E-79DE-EA373DD14D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F5C14A-4972-4A9C-CC65-D61FD8E199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8078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44880-5395-564F-D047-1BA3F7A13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980B7B-3F36-7914-7B69-131C1CC09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5C65EA-BE0F-8FB9-DC56-E76E23DE5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92029-E089-D96F-6CD3-C6DD53F8C9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4414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3CDC3-960B-DC8A-1E0E-941727EC6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D17D75-E61A-FDCD-1B4B-767AE8675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63371D-8E36-5DFC-3E9B-DF8DA81418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B78724-5C29-33B6-A830-6A96A13890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3880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2A4D7A"/>
          </a:solidFill>
          <a:ln w="12700">
            <a:solidFill>
              <a:srgbClr val="2A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Pasco Municipal Code</a:t>
            </a:r>
            <a:endParaRPr lang="en-US" sz="4400" dirty="0"/>
          </a:p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Reference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Technical Overview for City of Pasco IT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John Weisenfeld  ·  Physics Teacher, Orion High School  ·  April 2026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0" y="61264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http://orionhs.us/pmc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Share Freely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1234440"/>
            <a:ext cx="612648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Public tool — no login required. Share freely: http://orionhs.us/pmc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Hosted on psd1.net (cPanel server)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Capacity: dozens of concurrent users without issue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Flash queries typically cost $0.07-$0.15*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user data collected — all sessions are anonymous</a:t>
            </a: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*See Appendix Slides for Breakdown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583680" y="3474720"/>
            <a:ext cx="2286000" cy="1737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0" y="3474720"/>
            <a:ext cx="2286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</a:rPr>
              <a:t>$0.11</a:t>
            </a:r>
            <a:endParaRPr lang="en-US" sz="48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per typical query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Tool Does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1234440"/>
            <a:ext cx="4572000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Natural language questions about the PMC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Cites exact section numbers (§X.XX.XXX)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Cross-references related titles &amp; chapters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Flags gaps, conflicts, and ambiguities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English &amp; Spanish &amp; ??? — auto-detected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Multiple Google Gemini models available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12080" y="1828800"/>
            <a:ext cx="3657600" cy="3200400"/>
          </a:xfrm>
          <a:prstGeom prst="rect">
            <a:avLst/>
          </a:prstGeom>
          <a:solidFill>
            <a:srgbClr val="1E3A5F"/>
          </a:solidFill>
          <a:ln w="317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212080" y="182880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ADCFC"/>
                </a:solidFill>
              </a:rPr>
              <a:t>Try it live:</a:t>
            </a:r>
            <a:endParaRPr lang="en-US" sz="1400" dirty="0"/>
          </a:p>
          <a:p>
            <a:pPr marL="0" indent="0" algn="ctr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http://orionhs.us/pmc</a:t>
            </a:r>
            <a:endParaRPr lang="en-US" sz="1400" dirty="0"/>
          </a:p>
          <a:p>
            <a:pPr marL="0" indent="0" algn="ctr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</a:rPr>
              <a:t>Ask it anything about the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</a:rPr>
              <a:t>Pasco Municipal Code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377440" cy="201168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PMC Document</a:t>
            </a:r>
            <a:endParaRPr lang="en-US" sz="16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~938,000 tokens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Uploaded once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83280" y="1828800"/>
            <a:ext cx="2377440" cy="201168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383280" y="18288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Gemini Files API</a:t>
            </a:r>
            <a:endParaRPr lang="en-US" sz="16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Explicit Cache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12-hour TTL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09360" y="1828800"/>
            <a:ext cx="2377440" cy="201168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09360" y="18288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User Query</a:t>
            </a:r>
            <a:endParaRPr lang="en-US" sz="16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Full context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Streamed response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834640" y="2825496"/>
            <a:ext cx="548640" cy="0"/>
          </a:xfrm>
          <a:prstGeom prst="line">
            <a:avLst/>
          </a:prstGeom>
          <a:noFill/>
          <a:ln w="31750">
            <a:solidFill>
              <a:srgbClr val="C9A84C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943600" y="2825496"/>
            <a:ext cx="548640" cy="0"/>
          </a:xfrm>
          <a:prstGeom prst="line">
            <a:avLst/>
          </a:prstGeom>
          <a:noFill/>
          <a:ln w="31750">
            <a:solidFill>
              <a:srgbClr val="C9A84C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4160520"/>
            <a:ext cx="85039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PHP backend proxy keeps API key secure — never exposed to the browser</a:t>
            </a:r>
            <a:endParaRPr lang="en-US" sz="1400" dirty="0"/>
          </a:p>
          <a:p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Server-Sent Events (SSE) deliver streaming responses in real time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 Structure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11887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index.html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383280" y="118872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Chat UI — single file, ~700 lines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801368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184708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api-proxy.php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83280" y="1847088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Server-side proxy; streaming, caching, logging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" y="2459736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11480" y="250545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cache-create.php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83280" y="250545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Uploads PMC to Gemini Files API (daily cron)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3118104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" y="316382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cache-ping.php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83280" y="3163824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Keeps Files API URI alive every 23 hours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3776472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11480" y="38221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strip-html.php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383280" y="3822192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HTML → clean text (~60% size reduction)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4434840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" y="44805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PMC-clean.txt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383280" y="448056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Clean document — 3.75 MB, ~938k tokens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0040" y="5093208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1480" y="513892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gemini_usage.log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383280" y="5138928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Per-query token &amp; cache usage log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0040" y="5751576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11480" y="579729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query_logs/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383280" y="579729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Anonymized monthly query logs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Query Costs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931920" cy="228600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3931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Layer 1 — Files API</a:t>
            </a:r>
            <a:endParaRPr lang="en-US" sz="18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FFFFFF"/>
                </a:solidFill>
              </a:rPr>
              <a:t> </a:t>
            </a:r>
            <a:endParaRPr lang="en-US" sz="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Document uploaded once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Valid 48 hours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Refreshed nightly by cron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931920" cy="228600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754880" y="1280160"/>
            <a:ext cx="3931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Layer 2 — Context Cache</a:t>
            </a:r>
            <a:endParaRPr lang="en-US" sz="18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FFFFFF"/>
                </a:solidFill>
              </a:rPr>
              <a:t> </a:t>
            </a:r>
            <a:endParaRPr lang="en-US" sz="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Gemini holds document in hot memory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Valid 12 hours (lazy — created on first query)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Cache storage: $1.00 per 1M tokens/hour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18560"/>
            <a:ext cx="2590800" cy="1143000"/>
          </a:xfrm>
          <a:prstGeom prst="rect">
            <a:avLst/>
          </a:prstGeom>
          <a:solidFill>
            <a:srgbClr val="F4F6F9"/>
          </a:solidFill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3718560"/>
            <a:ext cx="2590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C9A84C"/>
                </a:solidFill>
              </a:rPr>
              <a:t>$0.01</a:t>
            </a:r>
            <a:endParaRPr lang="en-US" sz="4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3A5F"/>
                </a:solidFill>
              </a:rPr>
              <a:t>Flash-Lite / cached query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76600" y="3718560"/>
            <a:ext cx="2590800" cy="1143000"/>
          </a:xfrm>
          <a:prstGeom prst="rect">
            <a:avLst/>
          </a:prstGeom>
          <a:solidFill>
            <a:srgbClr val="F4F6F9"/>
          </a:solidFill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76600" y="3718560"/>
            <a:ext cx="2590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C9A84C"/>
                </a:solidFill>
              </a:rPr>
              <a:t>$0.10</a:t>
            </a:r>
            <a:endParaRPr lang="en-US" sz="4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3A5F"/>
                </a:solidFill>
              </a:rPr>
              <a:t>Flash 2.5 / cached query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6000" y="3718560"/>
            <a:ext cx="2590800" cy="1143000"/>
          </a:xfrm>
          <a:prstGeom prst="rect">
            <a:avLst/>
          </a:prstGeom>
          <a:solidFill>
            <a:srgbClr val="F4F6F9"/>
          </a:solidFill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96000" y="3718560"/>
            <a:ext cx="2590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C9A84C"/>
                </a:solidFill>
              </a:rPr>
              <a:t>$0.99</a:t>
            </a:r>
            <a:endParaRPr lang="en-US" sz="4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3A5F"/>
                </a:solidFill>
              </a:rPr>
              <a:t>Pro 2.5 / cached query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030160"/>
            <a:ext cx="8229600" cy="1143000"/>
          </a:xfrm>
          <a:prstGeom prst="rect">
            <a:avLst/>
          </a:prstGeom>
          <a:solidFill>
            <a:srgbClr val="2A4D7A"/>
          </a:solidFill>
          <a:ln w="12700">
            <a:solidFill>
              <a:srgbClr val="2A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5030160"/>
            <a:ext cx="8229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Cache storage is the dominant cost: ~$9/day baseline. Recommended for city deployment: Flash model with implicit caching (no storage fee) — estimated $50–100/month at typical staff usage.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Replicating for Any City Department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23444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Any Document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Zoning, HR, Budgets, Permits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00400" y="123444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0" y="123444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Own Folder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Isolated deployment per dept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080760" y="123444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080760" y="123444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Custom System Prompt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Defines AI expertise &amp; tone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20040" y="292608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0040" y="292608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2–4 Hours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Estimated setup per department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200400" y="292608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0" y="292608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Shared API Key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Or each dept provisions their own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080760" y="292608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080760" y="292608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Under $20/mo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Typical city staff usage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0040" y="6263640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All code is open source and sharable — no licensing or vendor lock-in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You'd Need to Self-Host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325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325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13232" y="1325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Web server with PHP 7.4+ and cURL (Linux cPanel or equivalent)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" y="2468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2468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13232" y="2468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Google Gemini API key (free at aistudio.google.com, usage-billed)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" y="3611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0040" y="3611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3232" y="3611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Source document in text or HTML format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0040" y="4754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0040" y="4754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13232" y="4754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Cron job scheduler (standard on any Linux server)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937760" y="1325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0" y="1325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321808" y="1325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database required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937760" y="2468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937760" y="2468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321808" y="2468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user authentication required (optional)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937760" y="3611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937760" y="3611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321808" y="3611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Docker or containers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937760" y="4754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937760" y="4754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321808" y="4754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special hardware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754880" y="1188720"/>
            <a:ext cx="0" cy="5303520"/>
          </a:xfrm>
          <a:prstGeom prst="line">
            <a:avLst/>
          </a:prstGeom>
          <a:noFill/>
          <a:ln w="19050">
            <a:solidFill>
              <a:srgbClr val="C9A84C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</a:t>
            </a:r>
            <a:r>
              <a:rPr lang="en-US" sz="4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(from Claude </a:t>
            </a:r>
            <a:r>
              <a:rPr lang="en-US" sz="4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)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1560" y="13716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Share the live tool with planners and department heads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3317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51560" y="23317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Schedule a 30-minute call to walk through the source code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51560" y="329184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Identify one city department as a pilot deployment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42519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051560" y="42519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John shares all source code — no strings attached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5669280"/>
            <a:ext cx="8229600" cy="914400"/>
          </a:xfrm>
          <a:prstGeom prst="rect">
            <a:avLst/>
          </a:prstGeom>
          <a:solidFill>
            <a:srgbClr val="2A4D7A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56692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John Weisenfeld  ·  jweisenfeld@psd1.org     </a:t>
            </a:r>
            <a:r>
              <a:rPr lang="en-US" sz="1400" b="1" dirty="0">
                <a:solidFill>
                  <a:srgbClr val="C9A84C"/>
                </a:solidFill>
              </a:rPr>
              <a:t>http://orionhs.us/pmc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6E3B75-CCF9-925F-DFCB-FB97D8586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23FF64E-6A4F-CEC4-7F43-6F42860D925B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EC70E84-9DDC-92B2-F69C-7D8A5BCF549F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Slides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72D1E39-FA88-4574-93B4-2E32E51D9AE6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F58F285-8D29-CFAA-4CCD-3687707E254F}"/>
              </a:ext>
            </a:extLst>
          </p:cNvPr>
          <p:cNvSpPr/>
          <p:nvPr/>
        </p:nvSpPr>
        <p:spPr>
          <a:xfrm>
            <a:off x="1084229" y="2967335"/>
            <a:ext cx="6975563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What are the real costs </a:t>
            </a:r>
          </a:p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when you use Gemini?</a:t>
            </a:r>
          </a:p>
        </p:txBody>
      </p:sp>
    </p:spTree>
    <p:extLst>
      <p:ext uri="{BB962C8B-B14F-4D97-AF65-F5344CB8AC3E}">
        <p14:creationId xmlns:p14="http://schemas.microsoft.com/office/powerpoint/2010/main" val="35631936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83C595-4059-C2E2-6D5D-D5EB0FB9CB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810" y="1518971"/>
            <a:ext cx="7554379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2516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7E0C1DB-4EAD-6A6E-6B9E-8020202D62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6" y="461548"/>
            <a:ext cx="7535327" cy="5934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019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4505F14-8EBD-1334-9C17-9DAB75B36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100" y="2576393"/>
            <a:ext cx="7525800" cy="1705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9361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BCA751-E8A4-5FF0-4BFB-5D88A0881A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63" y="2042919"/>
            <a:ext cx="7516274" cy="2772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572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EE265AB-1E2E-34B5-EB6B-77935FD7EB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6" y="1747603"/>
            <a:ext cx="7535327" cy="336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8188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12B84B-FA4E-BDFA-C219-039A0C917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A1030CC-B95D-CA2F-E42D-FDCBD4544688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05666B5-E130-EB60-C10E-A1D670675D75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Slides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8597C6B-B620-1D90-5F3A-6077BD4DEB8C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1000D71-F914-9417-0188-901685256032}"/>
              </a:ext>
            </a:extLst>
          </p:cNvPr>
          <p:cNvSpPr/>
          <p:nvPr/>
        </p:nvSpPr>
        <p:spPr>
          <a:xfrm>
            <a:off x="1084229" y="2967335"/>
            <a:ext cx="6975563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What are the real costs </a:t>
            </a:r>
          </a:p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when you use Claude?</a:t>
            </a:r>
          </a:p>
        </p:txBody>
      </p:sp>
    </p:spTree>
    <p:extLst>
      <p:ext uri="{BB962C8B-B14F-4D97-AF65-F5344CB8AC3E}">
        <p14:creationId xmlns:p14="http://schemas.microsoft.com/office/powerpoint/2010/main" val="30538919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AB10B9-080C-BCB7-C874-1FC86387B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6" y="918812"/>
            <a:ext cx="7535327" cy="502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5471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9AC412-82CA-2ED4-8815-BA0A162A00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810" y="1604708"/>
            <a:ext cx="7554379" cy="3648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566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676E3E-344D-065F-AC22-C09C6F5EB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6" y="1099812"/>
            <a:ext cx="7535327" cy="465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8352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FE1DCA-D3C9-A2F2-9EC2-2BB1DA1A7E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63" y="337706"/>
            <a:ext cx="7516274" cy="6182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6960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8E6871B-935D-6BD5-0811-AEDD39D1F6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6" y="204337"/>
            <a:ext cx="7535327" cy="644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630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416E4F-F7B0-3365-4F34-930357A64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EFD1AD2-8817-6B00-55AE-AFB110166E60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11293A5-D60A-A77C-74A6-35587A7D3634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Tool is Which?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6433EB1-274F-3BCD-554C-A62C79EEEA11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1CC9ECC-451D-C085-4BF1-0C4C3E5D652F}"/>
              </a:ext>
            </a:extLst>
          </p:cNvPr>
          <p:cNvSpPr/>
          <p:nvPr/>
        </p:nvSpPr>
        <p:spPr>
          <a:xfrm>
            <a:off x="320040" y="1234440"/>
            <a:ext cx="4572000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pmc1 is Gemini-based.</a:t>
            </a:r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pmc2 is Claude-based.</a:t>
            </a:r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pmc3 is ChatGPT-based.</a:t>
            </a:r>
          </a:p>
          <a:p>
            <a:pPr>
              <a:spcAft>
                <a:spcPts val="700"/>
              </a:spcAft>
            </a:pPr>
            <a:endParaRPr lang="en-US" sz="15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700"/>
              </a:spcAft>
            </a:pPr>
            <a:endParaRPr lang="en-US" sz="15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1EB98EE-CC60-40BE-D2C1-40334C8C182A}"/>
              </a:ext>
            </a:extLst>
          </p:cNvPr>
          <p:cNvSpPr/>
          <p:nvPr/>
        </p:nvSpPr>
        <p:spPr>
          <a:xfrm>
            <a:off x="5212080" y="1828800"/>
            <a:ext cx="3657600" cy="3200400"/>
          </a:xfrm>
          <a:prstGeom prst="rect">
            <a:avLst/>
          </a:prstGeom>
          <a:solidFill>
            <a:srgbClr val="1E3A5F"/>
          </a:solidFill>
          <a:ln w="317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60CD30E-BC28-4894-1F4F-0546BAB9FEDA}"/>
              </a:ext>
            </a:extLst>
          </p:cNvPr>
          <p:cNvSpPr/>
          <p:nvPr/>
        </p:nvSpPr>
        <p:spPr>
          <a:xfrm>
            <a:off x="5212080" y="182880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ADCFC"/>
                </a:solidFill>
              </a:rPr>
              <a:t>Try it live:</a:t>
            </a:r>
            <a:endParaRPr lang="en-US" sz="1400" dirty="0"/>
          </a:p>
          <a:p>
            <a:pPr marL="0" indent="0" algn="ctr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algn="ctr"/>
            <a:r>
              <a:rPr lang="en-US" b="1" dirty="0">
                <a:solidFill>
                  <a:srgbClr val="C9A84C"/>
                </a:solidFill>
              </a:rPr>
              <a:t>https://psd1.net/pmc1</a:t>
            </a:r>
            <a:endParaRPr lang="en-US" sz="1400" dirty="0"/>
          </a:p>
          <a:p>
            <a:pPr algn="ctr"/>
            <a:r>
              <a:rPr lang="en-US" b="1" dirty="0">
                <a:solidFill>
                  <a:srgbClr val="C9A84C"/>
                </a:solidFill>
              </a:rPr>
              <a:t>https://psd1.net/pmc2</a:t>
            </a:r>
            <a:endParaRPr lang="en-US" sz="14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https://psd1.net/pmc</a:t>
            </a:r>
            <a:r>
              <a:rPr lang="en-US" b="1" dirty="0">
                <a:solidFill>
                  <a:srgbClr val="C9A84C"/>
                </a:solidFill>
              </a:rPr>
              <a:t>3 </a:t>
            </a:r>
            <a:endParaRPr lang="en-US" sz="1400" dirty="0"/>
          </a:p>
          <a:p>
            <a:pPr marL="0" indent="0" algn="ctr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</a:rPr>
              <a:t>Ask it anything about the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</a:rPr>
              <a:t>Pasco Municipal Code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743503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BBC48B-7159-82AA-D98C-F5466301E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00F427-41DA-880B-405B-409954CF0BA6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599253D-D28E-5DF0-402E-9E66DF19EA41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Slides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2336075-5450-36E9-DF18-D784AE7EE671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3EA0C88-66A4-2D63-C556-88A1C892CA37}"/>
              </a:ext>
            </a:extLst>
          </p:cNvPr>
          <p:cNvSpPr/>
          <p:nvPr/>
        </p:nvSpPr>
        <p:spPr>
          <a:xfrm>
            <a:off x="1017127" y="2967335"/>
            <a:ext cx="7109767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What are the real costs </a:t>
            </a:r>
          </a:p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when you </a:t>
            </a:r>
            <a:r>
              <a:rPr lang="en-US" sz="5400" b="1" cap="none" spc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use ChatGPT?</a:t>
            </a:r>
            <a:endParaRPr lang="en-US" sz="5400" b="1" cap="none" spc="0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653298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728</Words>
  <Application>Microsoft Office PowerPoint</Application>
  <PresentationFormat>On-screen Show (4:3)</PresentationFormat>
  <Paragraphs>166</Paragraphs>
  <Slides>23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Calibri Light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Pasco Municipal Code AI Reference — Technical Overview</dc:title>
  <dc:subject>PptxGenJS Presentation</dc:subject>
  <dc:creator>John Weisenfeld</dc:creator>
  <cp:lastModifiedBy>John C. Weisenfeld</cp:lastModifiedBy>
  <cp:revision>7</cp:revision>
  <dcterms:created xsi:type="dcterms:W3CDTF">2026-04-08T16:45:41Z</dcterms:created>
  <dcterms:modified xsi:type="dcterms:W3CDTF">2026-04-09T18:19:05Z</dcterms:modified>
</cp:coreProperties>
</file>